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" y="3840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E6C74"/>
                </a:solidFill>
                <a:latin typeface="Consola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" y="9144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" y="113385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" y="135331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157276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" y="179222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" y="201168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" y="223113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" y="245059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016" y="267004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" y="288950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8016" y="310896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" y="332841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8016" y="354787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" y="376732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" y="398678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" y="420624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" y="442569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8016" y="464515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8016" y="486460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" y="508406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8016" y="530352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8016" y="552297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8016" y="574243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8016" y="596188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8016" y="618134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" y="64008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E6C74"/>
                </a:solidFill>
                <a:latin typeface="Consolas"/>
              </a:rPr>
              <a:t>RETO TÉCNICO · IA ENGINEER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7772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01619"/>
                </a:solidFill>
                <a:latin typeface="Segoe UI"/>
              </a:rPr>
              <a:t>Content Suite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160020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6565C"/>
                </a:solidFill>
                <a:latin typeface="Segoe UI"/>
              </a:rPr>
              <a:t>Cuando una compañía de consumo masivo lanza cientos de productos al año, el cuello de botella no es generar contenido: es que todo suene y se vea como la misma marca. Content Suite convierte las reglas de marca en un artefacto que las máquinas pueden leer, aplicar y auditar.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2880360"/>
            <a:ext cx="2331720" cy="91440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06424" y="3008376"/>
            <a:ext cx="2057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E6C74"/>
                </a:solidFill>
                <a:latin typeface="Consolas"/>
              </a:rPr>
              <a:t>4/4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" y="3447288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módulos entregados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0" y="2880360"/>
            <a:ext cx="2331720" cy="91440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21024" y="3008376"/>
            <a:ext cx="2057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E6C74"/>
                </a:solidFill>
                <a:latin typeface="Consolas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21024" y="3447288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roles con vistas propias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2880360"/>
            <a:ext cx="2331720" cy="91440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35624" y="3008376"/>
            <a:ext cx="2057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E6C74"/>
                </a:solidFill>
                <a:latin typeface="Consolas"/>
              </a:rPr>
              <a:t>63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35624" y="3447288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tests, sin red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03920" y="2880360"/>
            <a:ext cx="2331720" cy="91440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50224" y="3008376"/>
            <a:ext cx="2057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E6C74"/>
                </a:solidFill>
                <a:latin typeface="Consolas"/>
              </a:rPr>
              <a:t>~80 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50224" y="3447288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de brief a manual indexado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1605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1619"/>
                </a:solidFill>
                <a:latin typeface="Segoe UI"/>
              </a:rPr>
              <a:t>Entregables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46565C"/>
                </a:solidFill>
                <a:latin typeface="Consolas"/>
              </a:rPr>
              <a:t>App        content-suite-web.onrender.com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46565C"/>
                </a:solidFill>
                <a:latin typeface="Consolas"/>
              </a:rPr>
              <a:t>API        content-suite-api.onrender.com/docs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46565C"/>
                </a:solidFill>
                <a:latin typeface="Consolas"/>
              </a:rPr>
              <a:t>Langfuse   cloud.langfuse.com/project/cmszm13ah0az1ad0cp6p4suff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46565C"/>
                </a:solidFill>
                <a:latin typeface="Consolas"/>
              </a:rPr>
              <a:t>Repo       github.com/PC-Nostades/Content-Suite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74868C"/>
                </a:solidFill>
                <a:latin typeface="Consolas"/>
              </a:rPr>
              <a:t>FastAPI · React · Supabase + pgvector · OpenAI gpt-5.6-luna · LangGraph · Langfuse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" y="3840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E6C74"/>
                </a:solidFill>
                <a:latin typeface="Consola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" y="9144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" y="113385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" y="135331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157276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" y="179222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" y="201168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" y="223113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" y="245059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016" y="267004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" y="288950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8016" y="310896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" y="332841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8016" y="354787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" y="376732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" y="398678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" y="420624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" y="442569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8016" y="464515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8016" y="486460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" y="508406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8016" y="530352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8016" y="552297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8016" y="574243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8016" y="596188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8016" y="618134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" y="64008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E6C74"/>
                </a:solidFill>
                <a:latin typeface="Consolas"/>
              </a:rPr>
              <a:t>ENFOQUE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7772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01619"/>
                </a:solidFill>
                <a:latin typeface="Segoe UI"/>
              </a:rPr>
              <a:t>Un manual en prosa no se puede auditar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16459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6565C"/>
                </a:solidFill>
                <a:latin typeface="Segoe UI"/>
              </a:rPr>
              <a:t>La tesis del proyecto: si las reglas de marca no son medibles, ningún sistema puede aplicarlas. Por eso cada regla se genera como un objeto con severity, modality y un check_hint — la instrucción de cómo verificarla.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2697480"/>
            <a:ext cx="4846320" cy="228600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1288" y="2862072"/>
            <a:ext cx="44805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A8271F"/>
                </a:solidFill>
                <a:latin typeface="Segoe UI"/>
              </a:rPr>
              <a:t>Lo que un LLM escribe por defecto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74868C"/>
                </a:solidFill>
                <a:latin typeface="Segoe UI"/>
              </a:rPr>
              <a:t>"el logo debe verse bien"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74868C"/>
                </a:solidFill>
                <a:latin typeface="Segoe UI"/>
              </a:rPr>
              <a:t>"usar colores cálidos"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74868C"/>
                </a:solidFill>
                <a:latin typeface="Segoe UI"/>
              </a:rPr>
              <a:t>"buena legibilidad"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74868C"/>
                </a:solidFill>
                <a:latin typeface="Segoe UI"/>
              </a:rPr>
              <a:t>"fotos auténticas"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2697480"/>
            <a:ext cx="5394960" cy="2286000"/>
          </a:xfrm>
          <a:prstGeom prst="rect">
            <a:avLst/>
          </a:prstGeom>
          <a:solidFill>
            <a:srgbClr val="F2F5F6"/>
          </a:solidFill>
          <a:ln w="9525">
            <a:solidFill>
              <a:srgbClr val="0E6C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81928" y="2862072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6F45"/>
                </a:solidFill>
                <a:latin typeface="Segoe UI"/>
              </a:rPr>
              <a:t>Lo que este sistema exige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101619"/>
                </a:solidFill>
                <a:latin typeface="Segoe UI"/>
              </a:rPr>
              <a:t>el logo debe ocupar ≥ 8 % del ancho de la pieza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101619"/>
                </a:solidFill>
                <a:latin typeface="Segoe UI"/>
              </a:rPr>
              <a:t>#E8552D primario, máximo 40 % del área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101619"/>
                </a:solidFill>
                <a:latin typeface="Segoe UI"/>
              </a:rPr>
              <a:t>contraste texto/fondo ≥ 4.5:1 (WCAG AA)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101619"/>
                </a:solidFill>
                <a:latin typeface="Segoe UI"/>
              </a:rPr>
              <a:t>luz lateral natural, producto ≥ 25 % del encuadre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" y="5230368"/>
            <a:ext cx="10515600" cy="1051560"/>
          </a:xfrm>
          <a:prstGeom prst="rect">
            <a:avLst/>
          </a:prstGeom>
          <a:solidFill>
            <a:srgbClr val="F2F5F6"/>
          </a:solidFill>
          <a:ln w="19050">
            <a:solidFill>
              <a:srgbClr val="0E6C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5376672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74868C"/>
                </a:solidFill>
                <a:latin typeface="Segoe UI"/>
              </a:rPr>
              <a:t>Resultado real sobre una pieza con el logo dibujado al 4 %: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"la pieza mide ~1080 px de ancho y el logo ~44 px; ocupa cerca del 4.1 %, por debajo del mínimo exigido de 8 %"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74868C"/>
                </a:solidFill>
                <a:latin typeface="Consolas"/>
              </a:rPr>
              <a:t>citando visual.visual.el_logo_debe_ocupar_al_menos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" y="3840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E6C74"/>
                </a:solidFill>
                <a:latin typeface="Consola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" y="9144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" y="113385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" y="135331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157276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" y="179222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" y="201168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" y="223113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" y="245059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016" y="267004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" y="288950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8016" y="310896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" y="332841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8016" y="354787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" y="376732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" y="398678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" y="420624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" y="442569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8016" y="464515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8016" y="486460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" y="508406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8016" y="530352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8016" y="552297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8016" y="574243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8016" y="596188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8016" y="618134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" y="64008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E6C74"/>
                </a:solidFill>
                <a:latin typeface="Consolas"/>
              </a:rPr>
              <a:t>ARQUITECTURA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7772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01619"/>
                </a:solidFill>
                <a:latin typeface="Segoe UI"/>
              </a:rPr>
              <a:t>Monolito modular con una capa de IA compartida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1645920"/>
            <a:ext cx="3383280" cy="146304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4712" y="1773936"/>
            <a:ext cx="305409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A4F55"/>
                </a:solidFill>
                <a:latin typeface="Consolas"/>
              </a:rPr>
              <a:t>RENDER · STATIC SITE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React 19 · Vite · Tailwind v4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Proxea /api/* desde el mismo origen: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CORS desaparece. Y no duerme.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1645920"/>
            <a:ext cx="3383280" cy="1463040"/>
          </a:xfrm>
          <a:prstGeom prst="rect">
            <a:avLst/>
          </a:prstGeom>
          <a:solidFill>
            <a:srgbClr val="F2F5F6"/>
          </a:solidFill>
          <a:ln w="15875">
            <a:solidFill>
              <a:srgbClr val="0E6C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90872" y="1773936"/>
            <a:ext cx="305409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A4F55"/>
                </a:solidFill>
                <a:latin typeface="Consolas"/>
              </a:rPr>
              <a:t>RENDER · FASTAPI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modules/  auth · brand_dna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          creative · governance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ai/  llm · chunking · retrieval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92440" y="1645920"/>
            <a:ext cx="3383280" cy="146304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2" y="1773936"/>
            <a:ext cx="305409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A4F55"/>
                </a:solidFill>
                <a:latin typeface="Consolas"/>
              </a:rPr>
              <a:t>SUPABASE · POSTGRES 17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pgvector vector(1536) · HNSW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RLS cerrando PostgREST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7 tablas · migraciones idempotentes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0120" y="3291840"/>
            <a:ext cx="3383280" cy="146304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3419856"/>
            <a:ext cx="305409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A4F55"/>
                </a:solidFill>
                <a:latin typeface="Consolas"/>
              </a:rPr>
              <a:t>OPENAI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gpt-5.6-luna (texto y visión)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text-embedding-3-small · 1536 dims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reasoning.effort = none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26280" y="3291840"/>
            <a:ext cx="3383280" cy="146304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90872" y="3419856"/>
            <a:ext cx="305409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A4F55"/>
                </a:solidFill>
                <a:latin typeface="Consolas"/>
              </a:rPr>
              <a:t>LANGGRAPH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Solo el Módulo II, donde hay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un ciclo con decisión real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Los nodos llaman a nuestra capa llm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2440" y="3291840"/>
            <a:ext cx="3383280" cy="146304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57032" y="3419856"/>
            <a:ext cx="305409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A4F55"/>
                </a:solidFill>
                <a:latin typeface="Consolas"/>
              </a:rPr>
              <a:t>LANGFUSE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Qué contexto se recuperó del RAG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Qué prompt se envió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46565C"/>
                </a:solidFill>
                <a:latin typeface="Segoe UI"/>
              </a:rPr>
              <a:t>Cuánto tardó cada auditoría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0292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1619"/>
                </a:solidFill>
                <a:latin typeface="Segoe UI"/>
              </a:rPr>
              <a:t>Por qué ai/ vive fuera de modules/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6565C"/>
                </a:solidFill>
                <a:latin typeface="Segoe UI"/>
              </a:rPr>
              <a:t>El Módulo II necesita retrieval y el III generate_vision. Si esas piezas vivieran dentro de brand_dna/, los módulos siguientes importarían «hacia adentro» de otro módulo — el anti-patrón que obliga a refactorizar. Añadir un módulo es una carpeta, una línea en api.py y una fila en nav.ts.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" y="3840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E6C74"/>
                </a:solidFill>
                <a:latin typeface="Consola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" y="9144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" y="113385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" y="135331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157276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" y="179222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" y="201168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" y="223113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" y="245059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016" y="267004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" y="288950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8016" y="310896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" y="332841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8016" y="354787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" y="376732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" y="398678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" y="420624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" y="442569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8016" y="464515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8016" y="486460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" y="508406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8016" y="530352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8016" y="552297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8016" y="574243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8016" y="596188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8016" y="618134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" y="64008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E6C74"/>
                </a:solidFill>
                <a:latin typeface="Consolas"/>
              </a:rPr>
              <a:t>DEMOSTRACIÓN DE FUNCIONAMIENTO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7772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01619"/>
                </a:solidFill>
                <a:latin typeface="Segoe UI"/>
              </a:rPr>
              <a:t>El recorrido, y qué mirar en cada paso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1691640"/>
            <a:ext cx="3383280" cy="1481328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4712" y="1819656"/>
            <a:ext cx="3054096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1 · Creador abre un manual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Espectro de voz, léxico con chips rojos/verdes,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paleta con contraste WCAG calculado en cliente.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Mirar: cada regla lleva su check_hint.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1691640"/>
            <a:ext cx="3383280" cy="1481328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90872" y="1819656"/>
            <a:ext cx="3054096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2 · Creative Engine genera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El sistema recupera reglas ANTES de escribir.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Mirar: los rule_id aplicados, y el bloque de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violaciones que el guardrail corrigió.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92440" y="1691640"/>
            <a:ext cx="3383280" cy="1481328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2" y="1819656"/>
            <a:ext cx="3054096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3 · Aprobador A revisa el texto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Misma app, distinta navegación y permisos.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Mirar: el badge de rol y que el botón de crear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marca ya no existe.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0120" y="3374136"/>
            <a:ext cx="3383280" cy="1481328"/>
          </a:xfrm>
          <a:prstGeom prst="rect">
            <a:avLst/>
          </a:prstGeom>
          <a:solidFill>
            <a:srgbClr val="F2F5F6"/>
          </a:solidFill>
          <a:ln w="15875">
            <a:solidFill>
              <a:srgbClr val="0E6C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3502152"/>
            <a:ext cx="3054096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4 · Aprobador B audita la imagen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Sube una pieza con el logo pequeño.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Mirar: el dictamen mide 4.1 % y cita la regla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exacta del manual que se incumple.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26280" y="3374136"/>
            <a:ext cx="3383280" cy="1481328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90872" y="3502152"/>
            <a:ext cx="3054096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5 · Langfuse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La traza de esa misma interacción: contexto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recuperado, prompt enviado y latencias.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2440" y="3374136"/>
            <a:ext cx="3383280" cy="1481328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57032" y="3502152"/>
            <a:ext cx="3054096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Prueba de gobernanza en vivo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curl con el token del aprobador contra POST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/brands devuelve 403. El RBAC no es la UI: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se aplica en el servidor.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" y="5029200"/>
            <a:ext cx="10515600" cy="1051560"/>
          </a:xfrm>
          <a:prstGeom prst="rect">
            <a:avLst/>
          </a:prstGeom>
          <a:solidFill>
            <a:srgbClr val="F2F5F6"/>
          </a:solidFill>
          <a:ln w="15875">
            <a:solidFill>
              <a:srgbClr val="0E6C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88720" y="517550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01619"/>
                </a:solidFill>
                <a:latin typeface="Segoe UI"/>
              </a:rPr>
              <a:t>Nota sobre la demo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46565C"/>
                </a:solidFill>
                <a:latin typeface="Segoe UI"/>
              </a:rPr>
              <a:t>El backend corre en el free tier de Render y duerme tras 15 min: la primera petición puede tardar ~60 s. Por eso hay marcas ya sembradas — la demo del visor nunca depende de una llamada en vivo — y la sustentación se apoya en vídeo grabado.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" y="3840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E6C74"/>
                </a:solidFill>
                <a:latin typeface="Consola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" y="9144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" y="113385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" y="135331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157276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" y="179222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" y="201168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" y="223113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" y="245059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016" y="267004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" y="288950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8016" y="310896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" y="332841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8016" y="354787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" y="376732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" y="398678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" y="420624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" y="442569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8016" y="464515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8016" y="486460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" y="508406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8016" y="530352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8016" y="552297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8016" y="574243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8016" y="596188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8016" y="618134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" y="64008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E6C74"/>
                </a:solidFill>
                <a:latin typeface="Consolas"/>
              </a:rPr>
              <a:t>PRINCIPALES DECISIONES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7772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01619"/>
                </a:solidFill>
                <a:latin typeface="Segoe UI"/>
              </a:rPr>
              <a:t>Qué se decidió y por qué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1691640"/>
            <a:ext cx="5120640" cy="123444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4712" y="1819656"/>
            <a:ext cx="479145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Reglas como objetos con check_hint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Sin una instrucción de verificación medible, el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Módulo III solo podría opinar sobre estética.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36792" y="1691640"/>
            <a:ext cx="5120640" cy="123444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1384" y="1819656"/>
            <a:ext cx="479145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Chunking por dominio, no por tamaño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Sin metadata limpia no hay pre-filtrado, y una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consulta sobre el logo devolvería léxico.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3108960"/>
            <a:ext cx="5120640" cy="123444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4712" y="3236976"/>
            <a:ext cx="479145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RAG para guía, código para lo duro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Un check de palabra prohibida necesita 100 % de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recall. La búsqueda semántica no lo garantiza.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36792" y="3108960"/>
            <a:ext cx="5120640" cy="123444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01384" y="3236976"/>
            <a:ext cx="479145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LangGraph solo en el Módulo II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Ahí hay un ciclo con decisión. El fan-out del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Módulo I lo expresa mejor asyncio.gather.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4526280"/>
            <a:ext cx="5120640" cy="1234440"/>
          </a:xfrm>
          <a:prstGeom prst="rect">
            <a:avLst/>
          </a:prstGeom>
          <a:solidFill>
            <a:srgbClr val="F2F5F6"/>
          </a:solidFill>
          <a:ln w="15875">
            <a:solidFill>
              <a:srgbClr val="0E6C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4712" y="4654296"/>
            <a:ext cx="479145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Capa de proveedor intercambiable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Gemini limita a 20 peticiones AL DÍA por modelo.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Migrar a OpenAI tocó un solo archivo.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36792" y="4526280"/>
            <a:ext cx="5120640" cy="1234440"/>
          </a:xfrm>
          <a:prstGeom prst="rect">
            <a:avLst/>
          </a:prstGeom>
          <a:solidFill>
            <a:srgbClr val="F2F5F6"/>
          </a:solidFill>
          <a:ln w="9525">
            <a:solidFill>
              <a:srgbClr val="D2DB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01384" y="4654296"/>
            <a:ext cx="479145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619"/>
                </a:solidFill>
                <a:latin typeface="Segoe UI"/>
              </a:rPr>
              <a:t>202 + polling en el Módulo I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80 s de generación no caben en un request que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6565C"/>
                </a:solidFill>
                <a:latin typeface="Segoe UI"/>
              </a:rPr>
              <a:t>deba sobrevivir a un refresh del navegador.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74868C"/>
                </a:solidFill>
                <a:latin typeface="Segoe UI"/>
              </a:rPr>
              <a:t>Las diez decisiones completas, con su contexto, están documentadas en el README.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" y="3840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E6C74"/>
                </a:solidFill>
                <a:latin typeface="Consola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" y="9144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" y="113385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" y="135331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157276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" y="179222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" y="201168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" y="223113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" y="245059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016" y="267004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" y="288950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8016" y="310896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" y="332841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8016" y="354787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" y="376732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" y="398678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" y="420624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" y="442569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8016" y="464515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8016" y="486460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" y="508406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8016" y="530352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8016" y="5522976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8016" y="5742432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8016" y="5961888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8016" y="6181344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" y="6400800"/>
            <a:ext cx="310896" cy="9525"/>
          </a:xfrm>
          <a:prstGeom prst="rect">
            <a:avLst/>
          </a:prstGeom>
          <a:solidFill>
            <a:srgbClr val="D2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E6C74"/>
                </a:solidFill>
                <a:latin typeface="Consolas"/>
              </a:rPr>
              <a:t>VALOR Y LIMITACIONES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7772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01619"/>
                </a:solidFill>
                <a:latin typeface="Segoe UI"/>
              </a:rPr>
              <a:t>Qué resuelve hoy y qué falta para producción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169164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E6C74"/>
                </a:solidFill>
                <a:latin typeface="Segoe UI"/>
              </a:rPr>
              <a:t>Valor al negocio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46565C"/>
                </a:solidFill>
                <a:latin typeface="Segoe UI"/>
              </a:rPr>
              <a:t>·  El manual deja de ser un PDF que nadie abre: se vuelve reglas que el sistema aplica solo.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46565C"/>
                </a:solidFill>
                <a:latin typeface="Segoe UI"/>
              </a:rPr>
              <a:t>·  La revisión de marca deja de depender de quién esté disponible. Mismo criterio en la pieza 1 y en la 200.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46565C"/>
                </a:solidFill>
                <a:latin typeface="Segoe UI"/>
              </a:rPr>
              <a:t>·  Cada decisión es rastreable: un hallazgo cita su regla; una pieza cita las reglas que la guiaron.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46565C"/>
                </a:solidFill>
                <a:latin typeface="Segoe UI"/>
              </a:rPr>
              <a:t>·  Riesgo regulatorio acotado: claims prohibidos y octógonos de la Ley 30021 son reglas del sistema.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69164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A8271F"/>
                </a:solidFill>
                <a:latin typeface="Segoe UI"/>
              </a:rPr>
              <a:t>Limitaciones, sin maquillar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46565C"/>
                </a:solidFill>
                <a:latin typeface="Segoe UI"/>
              </a:rPr>
              <a:t>·  La auditoría visual estima proporciones, no mide píxeles. Acertó (44 px sobre 43 reales), pero cada hallazgo lleva confidence por eso.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46565C"/>
                </a:solidFill>
                <a:latin typeface="Segoe UI"/>
              </a:rPr>
              <a:t>·  Cold start de ~60 s en el free tier. Mitigado con keep-alive y datos sembrados; no resuelto.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46565C"/>
                </a:solidFill>
                <a:latin typeface="Segoe UI"/>
              </a:rPr>
              <a:t>·  Sin evaluación sistemática de calidad todavía: no hay golden set ni evals de regresión.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46565C"/>
                </a:solidFill>
                <a:latin typeface="Segoe UI"/>
              </a:rPr>
              <a:t>·  El contenido generado requiere validación legal y nutricional. El sistema reduce el riesgo; no lo elimina.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5029200"/>
            <a:ext cx="10515600" cy="1234440"/>
          </a:xfrm>
          <a:prstGeom prst="rect">
            <a:avLst/>
          </a:prstGeom>
          <a:solidFill>
            <a:srgbClr val="F2F5F6"/>
          </a:solidFill>
          <a:ln w="15875">
            <a:solidFill>
              <a:srgbClr val="0E6C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8720" y="5175504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1619"/>
                </a:solidFill>
                <a:latin typeface="Segoe UI"/>
              </a:rPr>
              <a:t>Lo que haría a continuación, en orden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46565C"/>
                </a:solidFill>
                <a:latin typeface="Segoe UI"/>
              </a:rPr>
              <a:t>1 · Evals en Langfuse con manuales de referencia, para detectar regresión al tocar prompts.    2 · Medición geométrica real (OpenCV) para las reglas de logo y área, dejando al modelo de visión lo que sí es juicio.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46565C"/>
                </a:solidFill>
                <a:latin typeface="Segoe UI"/>
              </a:rPr>
              <a:t>3 · Versionado de prompts en Langfuse para iterar sin redeploy.    4 · Cookie httpOnly + CSRF una vez validado el proxy de rewrite.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