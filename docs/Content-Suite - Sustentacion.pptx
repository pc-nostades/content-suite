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66928" cy="6858000"/>
          </a:xfrm>
          <a:prstGeom prst="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8016" y="3840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E6C74"/>
                </a:solidFill>
                <a:latin typeface="Consolas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" y="914400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8016" y="1133856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8016" y="1353312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8016" y="1572768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8016" y="1792224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28016" y="2011680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8016" y="2231136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8016" y="2450592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8016" y="2670048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8016" y="2889504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28016" y="3108960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28016" y="3328416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28016" y="3547872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28016" y="3767328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28016" y="3986784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28016" y="4206240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28016" y="4425696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8016" y="4645152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8016" y="4864608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28016" y="5084064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28016" y="5303520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28016" y="5522976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28016" y="5742432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28016" y="5961888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28016" y="6181344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28016" y="6400800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45720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E6C74"/>
                </a:solidFill>
                <a:latin typeface="Consolas"/>
              </a:rPr>
              <a:t>RETO TÉCNICO · IA ENGINEER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77724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01619"/>
                </a:solidFill>
                <a:latin typeface="Segoe UI"/>
              </a:rPr>
              <a:t>Content Suite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1600200"/>
            <a:ext cx="9875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dirty="0">
                <a:solidFill>
                  <a:srgbClr val="46565C"/>
                </a:solidFill>
                <a:latin typeface="Segoe UI"/>
              </a:rPr>
              <a:t>Cuando </a:t>
            </a:r>
            <a:r>
              <a:rPr sz="1500" b="0" dirty="0" err="1">
                <a:solidFill>
                  <a:srgbClr val="46565C"/>
                </a:solidFill>
                <a:latin typeface="Segoe UI"/>
              </a:rPr>
              <a:t>una</a:t>
            </a:r>
            <a:r>
              <a:rPr sz="15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46565C"/>
                </a:solidFill>
                <a:latin typeface="Segoe UI"/>
              </a:rPr>
              <a:t>compañía</a:t>
            </a:r>
            <a:r>
              <a:rPr sz="1500" b="0" dirty="0">
                <a:solidFill>
                  <a:srgbClr val="46565C"/>
                </a:solidFill>
                <a:latin typeface="Segoe UI"/>
              </a:rPr>
              <a:t> de </a:t>
            </a:r>
            <a:r>
              <a:rPr sz="1500" b="0" dirty="0" err="1">
                <a:solidFill>
                  <a:srgbClr val="46565C"/>
                </a:solidFill>
                <a:latin typeface="Segoe UI"/>
              </a:rPr>
              <a:t>consumo</a:t>
            </a:r>
            <a:r>
              <a:rPr sz="15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46565C"/>
                </a:solidFill>
                <a:latin typeface="Segoe UI"/>
              </a:rPr>
              <a:t>masivo</a:t>
            </a:r>
            <a:r>
              <a:rPr sz="15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46565C"/>
                </a:solidFill>
                <a:latin typeface="Segoe UI"/>
              </a:rPr>
              <a:t>lanza</a:t>
            </a:r>
            <a:r>
              <a:rPr sz="15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46565C"/>
                </a:solidFill>
                <a:latin typeface="Segoe UI"/>
              </a:rPr>
              <a:t>cientos</a:t>
            </a:r>
            <a:r>
              <a:rPr sz="1500" b="0" dirty="0">
                <a:solidFill>
                  <a:srgbClr val="46565C"/>
                </a:solidFill>
                <a:latin typeface="Segoe UI"/>
              </a:rPr>
              <a:t> de </a:t>
            </a:r>
            <a:r>
              <a:rPr sz="1500" b="0" dirty="0" err="1">
                <a:solidFill>
                  <a:srgbClr val="46565C"/>
                </a:solidFill>
                <a:latin typeface="Segoe UI"/>
              </a:rPr>
              <a:t>productos</a:t>
            </a:r>
            <a:r>
              <a:rPr sz="1500" b="0" dirty="0">
                <a:solidFill>
                  <a:srgbClr val="46565C"/>
                </a:solidFill>
                <a:latin typeface="Segoe UI"/>
              </a:rPr>
              <a:t> al </a:t>
            </a:r>
            <a:r>
              <a:rPr sz="1500" b="0" dirty="0" err="1">
                <a:solidFill>
                  <a:srgbClr val="46565C"/>
                </a:solidFill>
                <a:latin typeface="Segoe UI"/>
              </a:rPr>
              <a:t>año</a:t>
            </a:r>
            <a:r>
              <a:rPr sz="1500" b="0" dirty="0">
                <a:solidFill>
                  <a:srgbClr val="46565C"/>
                </a:solidFill>
                <a:latin typeface="Segoe UI"/>
              </a:rPr>
              <a:t>, el </a:t>
            </a:r>
            <a:r>
              <a:rPr sz="1500" b="0" dirty="0" err="1">
                <a:solidFill>
                  <a:srgbClr val="46565C"/>
                </a:solidFill>
                <a:latin typeface="Segoe UI"/>
              </a:rPr>
              <a:t>cuello</a:t>
            </a:r>
            <a:r>
              <a:rPr sz="1500" b="0" dirty="0">
                <a:solidFill>
                  <a:srgbClr val="46565C"/>
                </a:solidFill>
                <a:latin typeface="Segoe UI"/>
              </a:rPr>
              <a:t> de </a:t>
            </a:r>
            <a:r>
              <a:rPr sz="1500" b="0" dirty="0" err="1">
                <a:solidFill>
                  <a:srgbClr val="46565C"/>
                </a:solidFill>
                <a:latin typeface="Segoe UI"/>
              </a:rPr>
              <a:t>botella</a:t>
            </a:r>
            <a:r>
              <a:rPr sz="1500" b="0" dirty="0">
                <a:solidFill>
                  <a:srgbClr val="46565C"/>
                </a:solidFill>
                <a:latin typeface="Segoe UI"/>
              </a:rPr>
              <a:t> no es </a:t>
            </a:r>
            <a:r>
              <a:rPr sz="1500" b="0" dirty="0" err="1">
                <a:solidFill>
                  <a:srgbClr val="46565C"/>
                </a:solidFill>
                <a:latin typeface="Segoe UI"/>
              </a:rPr>
              <a:t>generar</a:t>
            </a:r>
            <a:r>
              <a:rPr sz="15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46565C"/>
                </a:solidFill>
                <a:latin typeface="Segoe UI"/>
              </a:rPr>
              <a:t>contenido</a:t>
            </a:r>
            <a:r>
              <a:rPr sz="1500" b="0" dirty="0">
                <a:solidFill>
                  <a:srgbClr val="46565C"/>
                </a:solidFill>
                <a:latin typeface="Segoe UI"/>
              </a:rPr>
              <a:t>: es </a:t>
            </a:r>
            <a:r>
              <a:rPr sz="1500" b="0" dirty="0" err="1">
                <a:solidFill>
                  <a:srgbClr val="46565C"/>
                </a:solidFill>
                <a:latin typeface="Segoe UI"/>
              </a:rPr>
              <a:t>que</a:t>
            </a:r>
            <a:r>
              <a:rPr sz="15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46565C"/>
                </a:solidFill>
                <a:latin typeface="Segoe UI"/>
              </a:rPr>
              <a:t>todo</a:t>
            </a:r>
            <a:r>
              <a:rPr sz="15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46565C"/>
                </a:solidFill>
                <a:latin typeface="Segoe UI"/>
              </a:rPr>
              <a:t>suene</a:t>
            </a:r>
            <a:r>
              <a:rPr sz="1500" b="0" dirty="0">
                <a:solidFill>
                  <a:srgbClr val="46565C"/>
                </a:solidFill>
                <a:latin typeface="Segoe UI"/>
              </a:rPr>
              <a:t> y se </a:t>
            </a:r>
            <a:r>
              <a:rPr sz="1500" b="0" dirty="0" err="1">
                <a:solidFill>
                  <a:srgbClr val="46565C"/>
                </a:solidFill>
                <a:latin typeface="Segoe UI"/>
              </a:rPr>
              <a:t>vea</a:t>
            </a:r>
            <a:r>
              <a:rPr sz="15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46565C"/>
                </a:solidFill>
                <a:latin typeface="Segoe UI"/>
              </a:rPr>
              <a:t>como</a:t>
            </a:r>
            <a:r>
              <a:rPr sz="1500" b="0" dirty="0">
                <a:solidFill>
                  <a:srgbClr val="46565C"/>
                </a:solidFill>
                <a:latin typeface="Segoe UI"/>
              </a:rPr>
              <a:t> la </a:t>
            </a:r>
            <a:r>
              <a:rPr sz="1500" b="0" dirty="0" err="1">
                <a:solidFill>
                  <a:srgbClr val="46565C"/>
                </a:solidFill>
                <a:latin typeface="Segoe UI"/>
              </a:rPr>
              <a:t>misma</a:t>
            </a:r>
            <a:r>
              <a:rPr sz="15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46565C"/>
                </a:solidFill>
                <a:latin typeface="Segoe UI"/>
              </a:rPr>
              <a:t>marca</a:t>
            </a:r>
            <a:r>
              <a:rPr sz="1500" b="0" dirty="0">
                <a:solidFill>
                  <a:srgbClr val="46565C"/>
                </a:solidFill>
                <a:latin typeface="Segoe UI"/>
              </a:rPr>
              <a:t>. Content Suite </a:t>
            </a:r>
            <a:r>
              <a:rPr sz="1500" b="0" dirty="0" err="1">
                <a:solidFill>
                  <a:srgbClr val="46565C"/>
                </a:solidFill>
                <a:latin typeface="Segoe UI"/>
              </a:rPr>
              <a:t>convierte</a:t>
            </a:r>
            <a:r>
              <a:rPr sz="1500" b="0" dirty="0">
                <a:solidFill>
                  <a:srgbClr val="46565C"/>
                </a:solidFill>
                <a:latin typeface="Segoe UI"/>
              </a:rPr>
              <a:t> las </a:t>
            </a:r>
            <a:r>
              <a:rPr sz="1500" b="0" dirty="0" err="1">
                <a:solidFill>
                  <a:srgbClr val="46565C"/>
                </a:solidFill>
                <a:latin typeface="Segoe UI"/>
              </a:rPr>
              <a:t>reglas</a:t>
            </a:r>
            <a:r>
              <a:rPr sz="1500" b="0" dirty="0">
                <a:solidFill>
                  <a:srgbClr val="46565C"/>
                </a:solidFill>
                <a:latin typeface="Segoe UI"/>
              </a:rPr>
              <a:t> de </a:t>
            </a:r>
            <a:r>
              <a:rPr sz="1500" b="0" dirty="0" err="1">
                <a:solidFill>
                  <a:srgbClr val="46565C"/>
                </a:solidFill>
                <a:latin typeface="Segoe UI"/>
              </a:rPr>
              <a:t>marca</a:t>
            </a:r>
            <a:r>
              <a:rPr sz="15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46565C"/>
                </a:solidFill>
                <a:latin typeface="Segoe UI"/>
              </a:rPr>
              <a:t>en</a:t>
            </a:r>
            <a:r>
              <a:rPr sz="1500" b="0" dirty="0">
                <a:solidFill>
                  <a:srgbClr val="46565C"/>
                </a:solidFill>
                <a:latin typeface="Segoe UI"/>
              </a:rPr>
              <a:t> un </a:t>
            </a:r>
            <a:r>
              <a:rPr sz="1500" b="0" dirty="0" err="1">
                <a:solidFill>
                  <a:srgbClr val="46565C"/>
                </a:solidFill>
                <a:latin typeface="Segoe UI"/>
              </a:rPr>
              <a:t>artefacto</a:t>
            </a:r>
            <a:r>
              <a:rPr sz="15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46565C"/>
                </a:solidFill>
                <a:latin typeface="Segoe UI"/>
              </a:rPr>
              <a:t>que</a:t>
            </a:r>
            <a:r>
              <a:rPr sz="1500" b="0" dirty="0">
                <a:solidFill>
                  <a:srgbClr val="46565C"/>
                </a:solidFill>
                <a:latin typeface="Segoe UI"/>
              </a:rPr>
              <a:t> las </a:t>
            </a:r>
            <a:r>
              <a:rPr sz="1500" b="0" dirty="0" err="1">
                <a:solidFill>
                  <a:srgbClr val="46565C"/>
                </a:solidFill>
                <a:latin typeface="Segoe UI"/>
              </a:rPr>
              <a:t>máquinas</a:t>
            </a:r>
            <a:r>
              <a:rPr sz="15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46565C"/>
                </a:solidFill>
                <a:latin typeface="Segoe UI"/>
              </a:rPr>
              <a:t>pueden</a:t>
            </a:r>
            <a:r>
              <a:rPr sz="1500" b="0" dirty="0">
                <a:solidFill>
                  <a:srgbClr val="46565C"/>
                </a:solidFill>
                <a:latin typeface="Segoe UI"/>
              </a:rPr>
              <a:t> leer, </a:t>
            </a:r>
            <a:r>
              <a:rPr sz="1500" b="0" dirty="0" err="1">
                <a:solidFill>
                  <a:srgbClr val="46565C"/>
                </a:solidFill>
                <a:latin typeface="Segoe UI"/>
              </a:rPr>
              <a:t>aplicar</a:t>
            </a:r>
            <a:r>
              <a:rPr sz="1500" b="0" dirty="0">
                <a:solidFill>
                  <a:srgbClr val="46565C"/>
                </a:solidFill>
                <a:latin typeface="Segoe UI"/>
              </a:rPr>
              <a:t> y </a:t>
            </a:r>
            <a:r>
              <a:rPr sz="1500" b="0" dirty="0" err="1">
                <a:solidFill>
                  <a:srgbClr val="46565C"/>
                </a:solidFill>
                <a:latin typeface="Segoe UI"/>
              </a:rPr>
              <a:t>auditar</a:t>
            </a:r>
            <a:r>
              <a:rPr sz="1500" b="0" dirty="0">
                <a:solidFill>
                  <a:srgbClr val="46565C"/>
                </a:solidFill>
                <a:latin typeface="Segoe UI"/>
              </a:rPr>
              <a:t>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" y="2880360"/>
            <a:ext cx="2331720" cy="914400"/>
          </a:xfrm>
          <a:prstGeom prst="rect">
            <a:avLst/>
          </a:prstGeom>
          <a:solidFill>
            <a:srgbClr val="F2F5F6"/>
          </a:solidFill>
          <a:ln w="9525">
            <a:solidFill>
              <a:srgbClr val="D2DB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06424" y="3008376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E6C74"/>
                </a:solidFill>
                <a:latin typeface="Consolas"/>
              </a:rPr>
              <a:t>4/4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" y="3447288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dirty="0" err="1">
                <a:solidFill>
                  <a:srgbClr val="46565C"/>
                </a:solidFill>
                <a:latin typeface="Segoe UI"/>
              </a:rPr>
              <a:t>módulos</a:t>
            </a:r>
            <a:r>
              <a:rPr sz="105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050" b="0" dirty="0" err="1">
                <a:solidFill>
                  <a:srgbClr val="46565C"/>
                </a:solidFill>
                <a:latin typeface="Segoe UI"/>
              </a:rPr>
              <a:t>entregados</a:t>
            </a:r>
            <a:endParaRPr sz="1050" b="0" dirty="0">
              <a:solidFill>
                <a:srgbClr val="46565C"/>
              </a:solidFill>
              <a:latin typeface="Segoe U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474720" y="2880360"/>
            <a:ext cx="2331720" cy="914400"/>
          </a:xfrm>
          <a:prstGeom prst="rect">
            <a:avLst/>
          </a:prstGeom>
          <a:solidFill>
            <a:srgbClr val="F2F5F6"/>
          </a:solidFill>
          <a:ln w="9525">
            <a:solidFill>
              <a:srgbClr val="D2DB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21024" y="3008376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E6C74"/>
                </a:solidFill>
                <a:latin typeface="Consolas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21024" y="3447288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46565C"/>
                </a:solidFill>
                <a:latin typeface="Segoe UI"/>
              </a:rPr>
              <a:t>roles con vistas propias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89320" y="2880360"/>
            <a:ext cx="2331720" cy="914400"/>
          </a:xfrm>
          <a:prstGeom prst="rect">
            <a:avLst/>
          </a:prstGeom>
          <a:solidFill>
            <a:srgbClr val="F2F5F6"/>
          </a:solidFill>
          <a:ln w="9525">
            <a:solidFill>
              <a:srgbClr val="D2DB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35624" y="3008376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E6C74"/>
                </a:solidFill>
                <a:latin typeface="Consolas"/>
              </a:rPr>
              <a:t>63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35624" y="3447288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46565C"/>
                </a:solidFill>
                <a:latin typeface="Segoe UI"/>
              </a:rPr>
              <a:t>tests, sin red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20" y="2880360"/>
            <a:ext cx="2331720" cy="914400"/>
          </a:xfrm>
          <a:prstGeom prst="rect">
            <a:avLst/>
          </a:prstGeom>
          <a:solidFill>
            <a:srgbClr val="F2F5F6"/>
          </a:solidFill>
          <a:ln w="9525">
            <a:solidFill>
              <a:srgbClr val="D2DB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50224" y="3008376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E6C74"/>
                </a:solidFill>
                <a:latin typeface="Consolas"/>
              </a:rPr>
              <a:t>~80 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50224" y="3447288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46565C"/>
                </a:solidFill>
                <a:latin typeface="Segoe UI"/>
              </a:rPr>
              <a:t>de brief a manual indexado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" y="41605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dirty="0" err="1">
                <a:solidFill>
                  <a:srgbClr val="101619"/>
                </a:solidFill>
                <a:latin typeface="Segoe UI"/>
              </a:rPr>
              <a:t>Entregables</a:t>
            </a:r>
            <a:endParaRPr sz="1200" b="1" dirty="0">
              <a:solidFill>
                <a:srgbClr val="101619"/>
              </a:solidFill>
              <a:latin typeface="Segoe UI"/>
            </a:endParaRPr>
          </a:p>
          <a:p>
            <a:pPr>
              <a:spcAft>
                <a:spcPts val="600"/>
              </a:spcAft>
            </a:pPr>
            <a:r>
              <a:rPr sz="1150" b="0" dirty="0">
                <a:solidFill>
                  <a:srgbClr val="46565C"/>
                </a:solidFill>
                <a:latin typeface="Consolas"/>
              </a:rPr>
              <a:t>App        content-suite-web.onrender.com</a:t>
            </a:r>
          </a:p>
          <a:p>
            <a:pPr>
              <a:spcAft>
                <a:spcPts val="600"/>
              </a:spcAft>
            </a:pPr>
            <a:r>
              <a:rPr sz="1150" b="0" dirty="0">
                <a:solidFill>
                  <a:srgbClr val="46565C"/>
                </a:solidFill>
                <a:latin typeface="Consolas"/>
              </a:rPr>
              <a:t>API        content-suite-api.onrender.com/docs</a:t>
            </a:r>
          </a:p>
          <a:p>
            <a:pPr>
              <a:spcAft>
                <a:spcPts val="600"/>
              </a:spcAft>
            </a:pPr>
            <a:r>
              <a:rPr sz="1150" b="0" dirty="0" err="1">
                <a:solidFill>
                  <a:srgbClr val="46565C"/>
                </a:solidFill>
                <a:latin typeface="Consolas"/>
              </a:rPr>
              <a:t>Langfuse</a:t>
            </a:r>
            <a:r>
              <a:rPr sz="1150" b="0" dirty="0">
                <a:solidFill>
                  <a:srgbClr val="46565C"/>
                </a:solidFill>
                <a:latin typeface="Consolas"/>
              </a:rPr>
              <a:t>   cloud.langfuse.com/project/cmszm13ah0az1ad0cp6p4suff</a:t>
            </a:r>
          </a:p>
          <a:p>
            <a:pPr>
              <a:spcAft>
                <a:spcPts val="600"/>
              </a:spcAft>
            </a:pPr>
            <a:r>
              <a:rPr sz="1150" b="0" dirty="0">
                <a:solidFill>
                  <a:srgbClr val="46565C"/>
                </a:solidFill>
                <a:latin typeface="Consolas"/>
              </a:rPr>
              <a:t>Repo       github.com/PC-Nostades/Content-Suite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" y="5989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4868C"/>
                </a:solidFill>
                <a:latin typeface="Consolas"/>
              </a:rPr>
              <a:t>FastAPI · React · Supabase + pgvector · OpenAI gpt-5.6-luna · LangGraph · Langfuse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66928" cy="6858000"/>
          </a:xfrm>
          <a:prstGeom prst="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8016" y="3840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E6C74"/>
                </a:solidFill>
                <a:latin typeface="Consolas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" y="914400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8016" y="1133856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8016" y="1353312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8016" y="1572768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8016" y="1792224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28016" y="2011680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8016" y="2231136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8016" y="2450592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8016" y="2670048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8016" y="2889504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28016" y="3108960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28016" y="3328416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28016" y="3547872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28016" y="3767328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28016" y="3986784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28016" y="4206240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28016" y="4425696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8016" y="4645152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8016" y="4864608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28016" y="5084064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28016" y="5303520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28016" y="5522976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28016" y="5742432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28016" y="5961888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28016" y="6181344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28016" y="6400800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45720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E6C74"/>
                </a:solidFill>
                <a:latin typeface="Consolas"/>
              </a:rPr>
              <a:t>ENFOQUE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77724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01619"/>
                </a:solidFill>
                <a:latin typeface="Segoe UI"/>
              </a:rPr>
              <a:t>Un manual en prosa no se puede auditar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164592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6565C"/>
                </a:solidFill>
                <a:latin typeface="Segoe UI"/>
              </a:rPr>
              <a:t>La tesis del proyecto: si las reglas de marca no son medibles, ningún sistema puede aplicarlas. Por eso cada regla se genera como un objeto con severity, modality y un check_hint — la instrucción de cómo verificarla.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" y="2697480"/>
            <a:ext cx="4846320" cy="2286000"/>
          </a:xfrm>
          <a:prstGeom prst="rect">
            <a:avLst/>
          </a:prstGeom>
          <a:solidFill>
            <a:srgbClr val="F2F5F6"/>
          </a:solidFill>
          <a:ln w="9525">
            <a:solidFill>
              <a:srgbClr val="D2DB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61288" y="2862072"/>
            <a:ext cx="448056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A8271F"/>
                </a:solidFill>
                <a:latin typeface="Segoe UI"/>
              </a:rPr>
              <a:t>Lo </a:t>
            </a:r>
            <a:r>
              <a:rPr sz="1200" b="1" dirty="0" err="1">
                <a:solidFill>
                  <a:srgbClr val="A8271F"/>
                </a:solidFill>
                <a:latin typeface="Segoe UI"/>
              </a:rPr>
              <a:t>que</a:t>
            </a:r>
            <a:r>
              <a:rPr sz="1200" b="1" dirty="0">
                <a:solidFill>
                  <a:srgbClr val="A8271F"/>
                </a:solidFill>
                <a:latin typeface="Segoe UI"/>
              </a:rPr>
              <a:t> un LLM escribe </a:t>
            </a:r>
            <a:r>
              <a:rPr sz="1200" b="1" dirty="0" err="1">
                <a:solidFill>
                  <a:srgbClr val="A8271F"/>
                </a:solidFill>
                <a:latin typeface="Segoe UI"/>
              </a:rPr>
              <a:t>por</a:t>
            </a:r>
            <a:r>
              <a:rPr sz="1200" b="1" dirty="0">
                <a:solidFill>
                  <a:srgbClr val="A8271F"/>
                </a:solidFill>
                <a:latin typeface="Segoe UI"/>
              </a:rPr>
              <a:t> </a:t>
            </a:r>
            <a:r>
              <a:rPr sz="1200" b="1" dirty="0" err="1">
                <a:solidFill>
                  <a:srgbClr val="A8271F"/>
                </a:solidFill>
                <a:latin typeface="Segoe UI"/>
              </a:rPr>
              <a:t>defecto</a:t>
            </a:r>
            <a:endParaRPr sz="1200" b="1" dirty="0">
              <a:solidFill>
                <a:srgbClr val="A8271F"/>
              </a:solidFill>
              <a:latin typeface="Segoe UI"/>
            </a:endParaRPr>
          </a:p>
          <a:p>
            <a:pPr>
              <a:spcAft>
                <a:spcPts val="900"/>
              </a:spcAft>
            </a:pPr>
            <a:r>
              <a:rPr sz="1200" b="0" dirty="0">
                <a:solidFill>
                  <a:srgbClr val="74868C"/>
                </a:solidFill>
                <a:latin typeface="Segoe UI"/>
              </a:rPr>
              <a:t>"el logo </a:t>
            </a:r>
            <a:r>
              <a:rPr sz="1200" b="0" dirty="0" err="1">
                <a:solidFill>
                  <a:srgbClr val="74868C"/>
                </a:solidFill>
                <a:latin typeface="Segoe UI"/>
              </a:rPr>
              <a:t>debe</a:t>
            </a:r>
            <a:r>
              <a:rPr sz="1200" b="0" dirty="0">
                <a:solidFill>
                  <a:srgbClr val="74868C"/>
                </a:solidFill>
                <a:latin typeface="Segoe UI"/>
              </a:rPr>
              <a:t> verse bien"</a:t>
            </a:r>
          </a:p>
          <a:p>
            <a:pPr>
              <a:spcAft>
                <a:spcPts val="900"/>
              </a:spcAft>
            </a:pPr>
            <a:r>
              <a:rPr sz="1200" b="0" dirty="0">
                <a:solidFill>
                  <a:srgbClr val="74868C"/>
                </a:solidFill>
                <a:latin typeface="Segoe UI"/>
              </a:rPr>
              <a:t>"usar </a:t>
            </a:r>
            <a:r>
              <a:rPr sz="1200" b="0" dirty="0" err="1">
                <a:solidFill>
                  <a:srgbClr val="74868C"/>
                </a:solidFill>
                <a:latin typeface="Segoe UI"/>
              </a:rPr>
              <a:t>colores</a:t>
            </a:r>
            <a:r>
              <a:rPr sz="1200" b="0" dirty="0">
                <a:solidFill>
                  <a:srgbClr val="74868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74868C"/>
                </a:solidFill>
                <a:latin typeface="Segoe UI"/>
              </a:rPr>
              <a:t>cálidos</a:t>
            </a:r>
            <a:r>
              <a:rPr sz="1200" b="0" dirty="0">
                <a:solidFill>
                  <a:srgbClr val="74868C"/>
                </a:solidFill>
                <a:latin typeface="Segoe UI"/>
              </a:rPr>
              <a:t>"</a:t>
            </a:r>
          </a:p>
          <a:p>
            <a:pPr>
              <a:spcAft>
                <a:spcPts val="900"/>
              </a:spcAft>
            </a:pPr>
            <a:r>
              <a:rPr sz="1200" b="0" dirty="0">
                <a:solidFill>
                  <a:srgbClr val="74868C"/>
                </a:solidFill>
                <a:latin typeface="Segoe UI"/>
              </a:rPr>
              <a:t>"</a:t>
            </a:r>
            <a:r>
              <a:rPr sz="1200" b="0" dirty="0" err="1">
                <a:solidFill>
                  <a:srgbClr val="74868C"/>
                </a:solidFill>
                <a:latin typeface="Segoe UI"/>
              </a:rPr>
              <a:t>buena</a:t>
            </a:r>
            <a:r>
              <a:rPr sz="1200" b="0" dirty="0">
                <a:solidFill>
                  <a:srgbClr val="74868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74868C"/>
                </a:solidFill>
                <a:latin typeface="Segoe UI"/>
              </a:rPr>
              <a:t>legibilidad</a:t>
            </a:r>
            <a:r>
              <a:rPr sz="1200" b="0" dirty="0">
                <a:solidFill>
                  <a:srgbClr val="74868C"/>
                </a:solidFill>
                <a:latin typeface="Segoe UI"/>
              </a:rPr>
              <a:t>"</a:t>
            </a:r>
          </a:p>
          <a:p>
            <a:pPr>
              <a:spcAft>
                <a:spcPts val="900"/>
              </a:spcAft>
            </a:pPr>
            <a:r>
              <a:rPr sz="1200" b="0" dirty="0">
                <a:solidFill>
                  <a:srgbClr val="74868C"/>
                </a:solidFill>
                <a:latin typeface="Segoe UI"/>
              </a:rPr>
              <a:t>"</a:t>
            </a:r>
            <a:r>
              <a:rPr sz="1200" b="0" dirty="0" err="1">
                <a:solidFill>
                  <a:srgbClr val="74868C"/>
                </a:solidFill>
                <a:latin typeface="Segoe UI"/>
              </a:rPr>
              <a:t>fotos</a:t>
            </a:r>
            <a:r>
              <a:rPr sz="1200" b="0" dirty="0">
                <a:solidFill>
                  <a:srgbClr val="74868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74868C"/>
                </a:solidFill>
                <a:latin typeface="Segoe UI"/>
              </a:rPr>
              <a:t>auténticas</a:t>
            </a:r>
            <a:r>
              <a:rPr sz="1200" b="0" dirty="0">
                <a:solidFill>
                  <a:srgbClr val="74868C"/>
                </a:solidFill>
                <a:latin typeface="Segoe UI"/>
              </a:rPr>
              <a:t>"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2697480"/>
            <a:ext cx="5394960" cy="2286000"/>
          </a:xfrm>
          <a:prstGeom prst="rect">
            <a:avLst/>
          </a:prstGeom>
          <a:solidFill>
            <a:srgbClr val="F2F5F6"/>
          </a:solidFill>
          <a:ln w="9525">
            <a:solidFill>
              <a:srgbClr val="0E6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81928" y="2862072"/>
            <a:ext cx="502920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6F45"/>
                </a:solidFill>
                <a:latin typeface="Segoe UI"/>
              </a:rPr>
              <a:t>Lo que este sistema exige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101619"/>
                </a:solidFill>
                <a:latin typeface="Segoe UI"/>
              </a:rPr>
              <a:t>el logo debe ocupar ≥ 8 % del ancho de la pieza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101619"/>
                </a:solidFill>
                <a:latin typeface="Segoe UI"/>
              </a:rPr>
              <a:t>#E8552D primario, máximo 40 % del área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101619"/>
                </a:solidFill>
                <a:latin typeface="Segoe UI"/>
              </a:rPr>
              <a:t>contraste texto/fondo ≥ 4.5:1 (WCAG AA)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101619"/>
                </a:solidFill>
                <a:latin typeface="Segoe UI"/>
              </a:rPr>
              <a:t>luz lateral natural, producto ≥ 25 % del encuadre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0120" y="5230368"/>
            <a:ext cx="10515600" cy="1051560"/>
          </a:xfrm>
          <a:prstGeom prst="rect">
            <a:avLst/>
          </a:prstGeom>
          <a:solidFill>
            <a:srgbClr val="F2F5F6"/>
          </a:solidFill>
          <a:ln w="19050">
            <a:solidFill>
              <a:srgbClr val="0E6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88720" y="5376672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4868C"/>
                </a:solidFill>
                <a:latin typeface="Segoe UI"/>
              </a:rPr>
              <a:t>Resultado real sobre una pieza con el logo dibujado al 4 %: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01619"/>
                </a:solidFill>
                <a:latin typeface="Segoe UI"/>
              </a:rPr>
              <a:t>"la pieza mide ~1080 px de ancho y el logo ~44 px; ocupa cerca del 4.1 %, por debajo del mínimo exigido de 8 %"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74868C"/>
                </a:solidFill>
                <a:latin typeface="Consolas"/>
              </a:rPr>
              <a:t>citando visual.visual.el_logo_debe_ocupar_al_menos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66928" cy="6858000"/>
          </a:xfrm>
          <a:prstGeom prst="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8016" y="3840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E6C74"/>
                </a:solidFill>
                <a:latin typeface="Consolas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" y="914400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8016" y="1133856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8016" y="1353312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8016" y="1572768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8016" y="1792224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28016" y="2011680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8016" y="2231136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8016" y="2450592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8016" y="2670048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8016" y="2889504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28016" y="3108960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28016" y="3328416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28016" y="3547872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28016" y="3767328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28016" y="3986784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28016" y="4206240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28016" y="4425696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8016" y="4645152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8016" y="4864608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28016" y="5084064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28016" y="5303520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28016" y="5522976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28016" y="5742432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28016" y="5961888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28016" y="6181344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28016" y="6400800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45720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E6C74"/>
                </a:solidFill>
                <a:latin typeface="Consolas"/>
              </a:rPr>
              <a:t>ARQUITECTURA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77724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01619"/>
                </a:solidFill>
                <a:latin typeface="Segoe UI"/>
              </a:rPr>
              <a:t>Monolito modular con una capa de IA compartida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" y="1645920"/>
            <a:ext cx="3383280" cy="1463040"/>
          </a:xfrm>
          <a:prstGeom prst="rect">
            <a:avLst/>
          </a:prstGeom>
          <a:solidFill>
            <a:srgbClr val="F2F5F6"/>
          </a:solidFill>
          <a:ln w="9525">
            <a:solidFill>
              <a:srgbClr val="D2DB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24712" y="1773936"/>
            <a:ext cx="305409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A4F55"/>
                </a:solidFill>
                <a:latin typeface="Consolas"/>
              </a:rPr>
              <a:t>RENDER · STATIC SITE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6565C"/>
                </a:solidFill>
                <a:latin typeface="Segoe UI"/>
              </a:rPr>
              <a:t>React 19 · Vite · Tailwind v4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6565C"/>
                </a:solidFill>
                <a:latin typeface="Segoe UI"/>
              </a:rPr>
              <a:t>Proxea /api/* desde el mismo origen: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6565C"/>
                </a:solidFill>
                <a:latin typeface="Segoe UI"/>
              </a:rPr>
              <a:t>CORS desaparece. Y no duerme.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26280" y="1645920"/>
            <a:ext cx="3383280" cy="1463040"/>
          </a:xfrm>
          <a:prstGeom prst="rect">
            <a:avLst/>
          </a:prstGeom>
          <a:solidFill>
            <a:srgbClr val="F2F5F6"/>
          </a:solidFill>
          <a:ln w="15875">
            <a:solidFill>
              <a:srgbClr val="0E6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90872" y="1773936"/>
            <a:ext cx="305409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A4F55"/>
                </a:solidFill>
                <a:latin typeface="Consolas"/>
              </a:rPr>
              <a:t>RENDER · FASTAPI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6565C"/>
                </a:solidFill>
                <a:latin typeface="Segoe UI"/>
              </a:rPr>
              <a:t>modules/  auth · brand_dna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6565C"/>
                </a:solidFill>
                <a:latin typeface="Segoe UI"/>
              </a:rPr>
              <a:t>          creative · governance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6565C"/>
                </a:solidFill>
                <a:latin typeface="Segoe UI"/>
              </a:rPr>
              <a:t>ai/  llm · chunking · retrieval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92440" y="1645920"/>
            <a:ext cx="3383280" cy="1463040"/>
          </a:xfrm>
          <a:prstGeom prst="rect">
            <a:avLst/>
          </a:prstGeom>
          <a:solidFill>
            <a:srgbClr val="F2F5F6"/>
          </a:solidFill>
          <a:ln w="9525">
            <a:solidFill>
              <a:srgbClr val="D2DB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57032" y="1773936"/>
            <a:ext cx="305409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dirty="0">
                <a:solidFill>
                  <a:srgbClr val="0A4F55"/>
                </a:solidFill>
                <a:latin typeface="Consolas"/>
              </a:rPr>
              <a:t>SUPABASE · POSTGRES 17</a:t>
            </a:r>
          </a:p>
          <a:p>
            <a:pPr>
              <a:spcAft>
                <a:spcPts val="200"/>
              </a:spcAft>
            </a:pPr>
            <a:r>
              <a:rPr sz="1050" b="0" dirty="0" err="1">
                <a:solidFill>
                  <a:srgbClr val="46565C"/>
                </a:solidFill>
                <a:latin typeface="Segoe UI"/>
              </a:rPr>
              <a:t>pgvector</a:t>
            </a:r>
            <a:r>
              <a:rPr sz="1050" b="0" dirty="0">
                <a:solidFill>
                  <a:srgbClr val="46565C"/>
                </a:solidFill>
                <a:latin typeface="Segoe UI"/>
              </a:rPr>
              <a:t> vector(1536) · HNSW</a:t>
            </a:r>
          </a:p>
          <a:p>
            <a:pPr>
              <a:spcAft>
                <a:spcPts val="200"/>
              </a:spcAft>
            </a:pPr>
            <a:r>
              <a:rPr sz="1050" b="0" dirty="0">
                <a:solidFill>
                  <a:srgbClr val="46565C"/>
                </a:solidFill>
                <a:latin typeface="Segoe UI"/>
              </a:rPr>
              <a:t>RLS </a:t>
            </a:r>
            <a:r>
              <a:rPr sz="1050" b="0" dirty="0" err="1">
                <a:solidFill>
                  <a:srgbClr val="46565C"/>
                </a:solidFill>
                <a:latin typeface="Segoe UI"/>
              </a:rPr>
              <a:t>cerrando</a:t>
            </a:r>
            <a:r>
              <a:rPr sz="105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050" b="0" dirty="0" err="1">
                <a:solidFill>
                  <a:srgbClr val="46565C"/>
                </a:solidFill>
                <a:latin typeface="Segoe UI"/>
              </a:rPr>
              <a:t>PostgREST</a:t>
            </a:r>
            <a:endParaRPr sz="1050" b="0" dirty="0">
              <a:solidFill>
                <a:srgbClr val="46565C"/>
              </a:solidFill>
              <a:latin typeface="Segoe UI"/>
            </a:endParaRPr>
          </a:p>
          <a:p>
            <a:pPr>
              <a:spcAft>
                <a:spcPts val="200"/>
              </a:spcAft>
            </a:pPr>
            <a:r>
              <a:rPr sz="1050" b="0" dirty="0">
                <a:solidFill>
                  <a:srgbClr val="46565C"/>
                </a:solidFill>
                <a:latin typeface="Segoe UI"/>
              </a:rPr>
              <a:t>7 </a:t>
            </a:r>
            <a:r>
              <a:rPr sz="1050" b="0" dirty="0" err="1">
                <a:solidFill>
                  <a:srgbClr val="46565C"/>
                </a:solidFill>
                <a:latin typeface="Segoe UI"/>
              </a:rPr>
              <a:t>tablas</a:t>
            </a:r>
            <a:r>
              <a:rPr sz="1050" b="0" dirty="0">
                <a:solidFill>
                  <a:srgbClr val="46565C"/>
                </a:solidFill>
                <a:latin typeface="Segoe UI"/>
              </a:rPr>
              <a:t> · </a:t>
            </a:r>
            <a:r>
              <a:rPr sz="1050" b="0" dirty="0" err="1">
                <a:solidFill>
                  <a:srgbClr val="46565C"/>
                </a:solidFill>
                <a:latin typeface="Segoe UI"/>
              </a:rPr>
              <a:t>migraciones</a:t>
            </a:r>
            <a:r>
              <a:rPr sz="105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050" b="0" dirty="0" err="1">
                <a:solidFill>
                  <a:srgbClr val="46565C"/>
                </a:solidFill>
                <a:latin typeface="Segoe UI"/>
              </a:rPr>
              <a:t>idempotentes</a:t>
            </a:r>
            <a:endParaRPr sz="1050" b="0" dirty="0">
              <a:solidFill>
                <a:srgbClr val="46565C"/>
              </a:solidFill>
              <a:latin typeface="Segoe U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60120" y="3291840"/>
            <a:ext cx="3383280" cy="1463040"/>
          </a:xfrm>
          <a:prstGeom prst="rect">
            <a:avLst/>
          </a:prstGeom>
          <a:solidFill>
            <a:srgbClr val="F2F5F6"/>
          </a:solidFill>
          <a:ln w="9525">
            <a:solidFill>
              <a:srgbClr val="D2DB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24712" y="3419856"/>
            <a:ext cx="305409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A4F55"/>
                </a:solidFill>
                <a:latin typeface="Consolas"/>
              </a:rPr>
              <a:t>OPENAI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6565C"/>
                </a:solidFill>
                <a:latin typeface="Segoe UI"/>
              </a:rPr>
              <a:t>gpt-5.6-luna (texto y visión)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6565C"/>
                </a:solidFill>
                <a:latin typeface="Segoe UI"/>
              </a:rPr>
              <a:t>text-embedding-3-small · 1536 dims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6565C"/>
                </a:solidFill>
                <a:latin typeface="Segoe UI"/>
              </a:rPr>
              <a:t>reasoning.effort = none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26280" y="3291840"/>
            <a:ext cx="3383280" cy="1463040"/>
          </a:xfrm>
          <a:prstGeom prst="rect">
            <a:avLst/>
          </a:prstGeom>
          <a:solidFill>
            <a:srgbClr val="F2F5F6"/>
          </a:solidFill>
          <a:ln w="9525">
            <a:solidFill>
              <a:srgbClr val="D2DB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690872" y="3419856"/>
            <a:ext cx="305409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A4F55"/>
                </a:solidFill>
                <a:latin typeface="Consolas"/>
              </a:rPr>
              <a:t>LANGGRAPH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6565C"/>
                </a:solidFill>
                <a:latin typeface="Segoe UI"/>
              </a:rPr>
              <a:t>Solo el Módulo II, donde hay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6565C"/>
                </a:solidFill>
                <a:latin typeface="Segoe UI"/>
              </a:rPr>
              <a:t>un ciclo con decisión real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6565C"/>
                </a:solidFill>
                <a:latin typeface="Segoe UI"/>
              </a:rPr>
              <a:t>Los nodos llaman a nuestra capa llm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92440" y="3291840"/>
            <a:ext cx="3383280" cy="1463040"/>
          </a:xfrm>
          <a:prstGeom prst="rect">
            <a:avLst/>
          </a:prstGeom>
          <a:solidFill>
            <a:srgbClr val="F2F5F6"/>
          </a:solidFill>
          <a:ln w="9525">
            <a:solidFill>
              <a:srgbClr val="D2DB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57032" y="3419856"/>
            <a:ext cx="305409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A4F55"/>
                </a:solidFill>
                <a:latin typeface="Consolas"/>
              </a:rPr>
              <a:t>LANGFUSE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6565C"/>
                </a:solidFill>
                <a:latin typeface="Segoe UI"/>
              </a:rPr>
              <a:t>Qué contexto se recuperó del RAG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6565C"/>
                </a:solidFill>
                <a:latin typeface="Segoe UI"/>
              </a:rPr>
              <a:t>Qué prompt se envió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6565C"/>
                </a:solidFill>
                <a:latin typeface="Segoe UI"/>
              </a:rPr>
              <a:t>Cuánto tardó cada auditoría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5029200"/>
            <a:ext cx="10515600" cy="6052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101619"/>
                </a:solidFill>
                <a:latin typeface="Segoe UI"/>
              </a:rPr>
              <a:t>Por </a:t>
            </a:r>
            <a:r>
              <a:rPr sz="1200" b="1" dirty="0" err="1">
                <a:solidFill>
                  <a:srgbClr val="101619"/>
                </a:solidFill>
                <a:latin typeface="Segoe UI"/>
              </a:rPr>
              <a:t>qué</a:t>
            </a:r>
            <a:r>
              <a:rPr sz="1200" b="1" dirty="0">
                <a:solidFill>
                  <a:srgbClr val="101619"/>
                </a:solidFill>
                <a:latin typeface="Segoe UI"/>
              </a:rPr>
              <a:t> ai/ </a:t>
            </a:r>
            <a:r>
              <a:rPr sz="1200" b="1" dirty="0" err="1">
                <a:solidFill>
                  <a:srgbClr val="101619"/>
                </a:solidFill>
                <a:latin typeface="Segoe UI"/>
              </a:rPr>
              <a:t>vive</a:t>
            </a:r>
            <a:r>
              <a:rPr sz="1200" b="1" dirty="0">
                <a:solidFill>
                  <a:srgbClr val="101619"/>
                </a:solidFill>
                <a:latin typeface="Segoe UI"/>
              </a:rPr>
              <a:t> fuera de modules/</a:t>
            </a:r>
          </a:p>
          <a:p>
            <a:pPr>
              <a:spcAft>
                <a:spcPts val="600"/>
              </a:spcAft>
            </a:pPr>
            <a:r>
              <a:rPr sz="1200" b="0" dirty="0">
                <a:solidFill>
                  <a:srgbClr val="46565C"/>
                </a:solidFill>
                <a:latin typeface="Segoe UI"/>
              </a:rPr>
              <a:t>El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Módulo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II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necesita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retrieval y el III vision. Si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esas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piezas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vivieran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dentro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de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brand_dna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/,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los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módulos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siguientes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importarían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«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hacia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adentro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» de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otro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módulo</a:t>
            </a:r>
            <a:r>
              <a:rPr lang="es-PE" sz="1200" b="0" dirty="0">
                <a:solidFill>
                  <a:srgbClr val="46565C"/>
                </a:solidFill>
                <a:latin typeface="Segoe UI"/>
              </a:rPr>
              <a:t>.</a:t>
            </a:r>
            <a:endParaRPr sz="1200" b="0" dirty="0">
              <a:solidFill>
                <a:srgbClr val="46565C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66928" cy="6858000"/>
          </a:xfrm>
          <a:prstGeom prst="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8016" y="3840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E6C74"/>
                </a:solidFill>
                <a:latin typeface="Consolas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" y="914400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8016" y="1133856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8016" y="1353312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8016" y="1572768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8016" y="1792224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28016" y="2011680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8016" y="2231136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8016" y="2450592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8016" y="2670048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8016" y="2889504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28016" y="3108960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28016" y="3328416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28016" y="3547872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28016" y="3767328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28016" y="3986784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28016" y="4206240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28016" y="4425696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8016" y="4645152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8016" y="4864608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28016" y="5084064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28016" y="5303520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28016" y="5522976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28016" y="5742432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28016" y="5961888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28016" y="6181344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28016" y="6400800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45720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E6C74"/>
                </a:solidFill>
                <a:latin typeface="Consolas"/>
              </a:rPr>
              <a:t>DEMOSTRACIÓN DE FUNCIONAMIENTO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77724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dirty="0">
                <a:solidFill>
                  <a:srgbClr val="101619"/>
                </a:solidFill>
                <a:latin typeface="Segoe UI"/>
              </a:rPr>
              <a:t>El </a:t>
            </a:r>
            <a:r>
              <a:rPr sz="3000" b="1" dirty="0" err="1">
                <a:solidFill>
                  <a:srgbClr val="101619"/>
                </a:solidFill>
                <a:latin typeface="Segoe UI"/>
              </a:rPr>
              <a:t>recorrido</a:t>
            </a:r>
            <a:r>
              <a:rPr sz="3000" b="1" dirty="0">
                <a:solidFill>
                  <a:srgbClr val="101619"/>
                </a:solidFill>
                <a:latin typeface="Segoe UI"/>
              </a:rPr>
              <a:t>, y </a:t>
            </a:r>
            <a:r>
              <a:rPr sz="3000" b="1" dirty="0" err="1">
                <a:solidFill>
                  <a:srgbClr val="101619"/>
                </a:solidFill>
                <a:latin typeface="Segoe UI"/>
              </a:rPr>
              <a:t>qué</a:t>
            </a:r>
            <a:r>
              <a:rPr sz="3000" b="1" dirty="0">
                <a:solidFill>
                  <a:srgbClr val="101619"/>
                </a:solidFill>
                <a:latin typeface="Segoe UI"/>
              </a:rPr>
              <a:t> </a:t>
            </a:r>
            <a:r>
              <a:rPr sz="3000" b="1" dirty="0" err="1">
                <a:solidFill>
                  <a:srgbClr val="101619"/>
                </a:solidFill>
                <a:latin typeface="Segoe UI"/>
              </a:rPr>
              <a:t>mirar</a:t>
            </a:r>
            <a:r>
              <a:rPr sz="3000" b="1" dirty="0">
                <a:solidFill>
                  <a:srgbClr val="101619"/>
                </a:solidFill>
                <a:latin typeface="Segoe UI"/>
              </a:rPr>
              <a:t> </a:t>
            </a:r>
            <a:r>
              <a:rPr sz="3000" b="1" dirty="0" err="1">
                <a:solidFill>
                  <a:srgbClr val="101619"/>
                </a:solidFill>
                <a:latin typeface="Segoe UI"/>
              </a:rPr>
              <a:t>en</a:t>
            </a:r>
            <a:r>
              <a:rPr sz="3000" b="1" dirty="0">
                <a:solidFill>
                  <a:srgbClr val="101619"/>
                </a:solidFill>
                <a:latin typeface="Segoe UI"/>
              </a:rPr>
              <a:t> </a:t>
            </a:r>
            <a:r>
              <a:rPr sz="3000" b="1" dirty="0" err="1">
                <a:solidFill>
                  <a:srgbClr val="101619"/>
                </a:solidFill>
                <a:latin typeface="Segoe UI"/>
              </a:rPr>
              <a:t>cada</a:t>
            </a:r>
            <a:r>
              <a:rPr sz="3000" b="1" dirty="0">
                <a:solidFill>
                  <a:srgbClr val="101619"/>
                </a:solidFill>
                <a:latin typeface="Segoe UI"/>
              </a:rPr>
              <a:t> paso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" y="1691640"/>
            <a:ext cx="3383280" cy="1481328"/>
          </a:xfrm>
          <a:prstGeom prst="rect">
            <a:avLst/>
          </a:prstGeom>
          <a:solidFill>
            <a:srgbClr val="F2F5F6"/>
          </a:solidFill>
          <a:ln w="9525">
            <a:solidFill>
              <a:srgbClr val="D2DB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24712" y="1819656"/>
            <a:ext cx="3054096" cy="12252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101619"/>
                </a:solidFill>
                <a:latin typeface="Segoe UI"/>
              </a:rPr>
              <a:t>1 · </a:t>
            </a:r>
            <a:r>
              <a:rPr sz="1300" b="1" dirty="0" err="1">
                <a:solidFill>
                  <a:srgbClr val="101619"/>
                </a:solidFill>
                <a:latin typeface="Segoe UI"/>
              </a:rPr>
              <a:t>Creador</a:t>
            </a:r>
            <a:r>
              <a:rPr sz="1300" b="1" dirty="0">
                <a:solidFill>
                  <a:srgbClr val="101619"/>
                </a:solidFill>
                <a:latin typeface="Segoe UI"/>
              </a:rPr>
              <a:t> </a:t>
            </a:r>
            <a:r>
              <a:rPr sz="1300" b="1" dirty="0" err="1">
                <a:solidFill>
                  <a:srgbClr val="101619"/>
                </a:solidFill>
                <a:latin typeface="Segoe UI"/>
              </a:rPr>
              <a:t>abre</a:t>
            </a:r>
            <a:r>
              <a:rPr sz="1300" b="1" dirty="0">
                <a:solidFill>
                  <a:srgbClr val="101619"/>
                </a:solidFill>
                <a:latin typeface="Segoe UI"/>
              </a:rPr>
              <a:t> un manual</a:t>
            </a:r>
          </a:p>
          <a:p>
            <a:pPr>
              <a:spcAft>
                <a:spcPts val="400"/>
              </a:spcAft>
            </a:pPr>
            <a:r>
              <a:rPr sz="1100" b="0" dirty="0" err="1">
                <a:solidFill>
                  <a:srgbClr val="46565C"/>
                </a:solidFill>
                <a:latin typeface="Segoe UI"/>
              </a:rPr>
              <a:t>Espectro</a:t>
            </a:r>
            <a:r>
              <a:rPr sz="1100" b="0" dirty="0">
                <a:solidFill>
                  <a:srgbClr val="46565C"/>
                </a:solidFill>
                <a:latin typeface="Segoe UI"/>
              </a:rPr>
              <a:t> de </a:t>
            </a:r>
            <a:r>
              <a:rPr sz="1100" b="0" dirty="0" err="1">
                <a:solidFill>
                  <a:srgbClr val="46565C"/>
                </a:solidFill>
                <a:latin typeface="Segoe UI"/>
              </a:rPr>
              <a:t>voz</a:t>
            </a:r>
            <a:r>
              <a:rPr sz="1100" b="0" dirty="0">
                <a:solidFill>
                  <a:srgbClr val="46565C"/>
                </a:solidFill>
                <a:latin typeface="Segoe UI"/>
              </a:rPr>
              <a:t>, </a:t>
            </a:r>
            <a:r>
              <a:rPr sz="1100" b="0" dirty="0" err="1">
                <a:solidFill>
                  <a:srgbClr val="46565C"/>
                </a:solidFill>
                <a:latin typeface="Segoe UI"/>
              </a:rPr>
              <a:t>léxico</a:t>
            </a:r>
            <a:r>
              <a:rPr sz="1100" b="0" dirty="0">
                <a:solidFill>
                  <a:srgbClr val="46565C"/>
                </a:solidFill>
                <a:latin typeface="Segoe UI"/>
              </a:rPr>
              <a:t> con chips </a:t>
            </a:r>
            <a:r>
              <a:rPr sz="1100" b="0" dirty="0" err="1">
                <a:solidFill>
                  <a:srgbClr val="46565C"/>
                </a:solidFill>
                <a:latin typeface="Segoe UI"/>
              </a:rPr>
              <a:t>rojos</a:t>
            </a:r>
            <a:r>
              <a:rPr sz="1100" b="0" dirty="0">
                <a:solidFill>
                  <a:srgbClr val="46565C"/>
                </a:solidFill>
                <a:latin typeface="Segoe UI"/>
              </a:rPr>
              <a:t>/</a:t>
            </a:r>
            <a:r>
              <a:rPr sz="1100" b="0" dirty="0" err="1">
                <a:solidFill>
                  <a:srgbClr val="46565C"/>
                </a:solidFill>
                <a:latin typeface="Segoe UI"/>
              </a:rPr>
              <a:t>verdes</a:t>
            </a:r>
            <a:r>
              <a:rPr sz="1100" b="0" dirty="0">
                <a:solidFill>
                  <a:srgbClr val="46565C"/>
                </a:solidFill>
                <a:latin typeface="Segoe UI"/>
              </a:rPr>
              <a:t>,</a:t>
            </a:r>
          </a:p>
          <a:p>
            <a:pPr>
              <a:spcAft>
                <a:spcPts val="400"/>
              </a:spcAft>
            </a:pPr>
            <a:r>
              <a:rPr sz="1100" b="0" dirty="0">
                <a:solidFill>
                  <a:srgbClr val="46565C"/>
                </a:solidFill>
                <a:latin typeface="Segoe UI"/>
              </a:rPr>
              <a:t>paleta con </a:t>
            </a:r>
            <a:r>
              <a:rPr sz="1100" b="0" dirty="0" err="1">
                <a:solidFill>
                  <a:srgbClr val="46565C"/>
                </a:solidFill>
                <a:latin typeface="Segoe UI"/>
              </a:rPr>
              <a:t>contraste</a:t>
            </a:r>
            <a:r>
              <a:rPr sz="1100" b="0" dirty="0">
                <a:solidFill>
                  <a:srgbClr val="46565C"/>
                </a:solidFill>
                <a:latin typeface="Segoe UI"/>
              </a:rPr>
              <a:t> WCAG </a:t>
            </a:r>
            <a:r>
              <a:rPr sz="1100" b="0" dirty="0" err="1">
                <a:solidFill>
                  <a:srgbClr val="46565C"/>
                </a:solidFill>
                <a:latin typeface="Segoe UI"/>
              </a:rPr>
              <a:t>calculado</a:t>
            </a:r>
            <a:r>
              <a:rPr sz="11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100" b="0" dirty="0" err="1">
                <a:solidFill>
                  <a:srgbClr val="46565C"/>
                </a:solidFill>
                <a:latin typeface="Segoe UI"/>
              </a:rPr>
              <a:t>en</a:t>
            </a:r>
            <a:r>
              <a:rPr sz="11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100" b="0" dirty="0" err="1">
                <a:solidFill>
                  <a:srgbClr val="46565C"/>
                </a:solidFill>
                <a:latin typeface="Segoe UI"/>
              </a:rPr>
              <a:t>cliente</a:t>
            </a:r>
            <a:r>
              <a:rPr sz="1100" b="0" dirty="0">
                <a:solidFill>
                  <a:srgbClr val="46565C"/>
                </a:solidFill>
                <a:latin typeface="Segoe U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100" b="0" dirty="0">
                <a:solidFill>
                  <a:srgbClr val="46565C"/>
                </a:solidFill>
                <a:latin typeface="Segoe UI"/>
              </a:rPr>
              <a:t>Mirar: </a:t>
            </a:r>
            <a:r>
              <a:rPr sz="1100" b="0" dirty="0" err="1">
                <a:solidFill>
                  <a:srgbClr val="46565C"/>
                </a:solidFill>
                <a:latin typeface="Segoe UI"/>
              </a:rPr>
              <a:t>cada</a:t>
            </a:r>
            <a:r>
              <a:rPr sz="11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100" b="0" dirty="0" err="1">
                <a:solidFill>
                  <a:srgbClr val="46565C"/>
                </a:solidFill>
                <a:latin typeface="Segoe UI"/>
              </a:rPr>
              <a:t>regla</a:t>
            </a:r>
            <a:r>
              <a:rPr sz="11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100" b="0" dirty="0" err="1">
                <a:solidFill>
                  <a:srgbClr val="46565C"/>
                </a:solidFill>
                <a:latin typeface="Segoe UI"/>
              </a:rPr>
              <a:t>lleva</a:t>
            </a:r>
            <a:r>
              <a:rPr sz="11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100" b="0" dirty="0" err="1">
                <a:solidFill>
                  <a:srgbClr val="46565C"/>
                </a:solidFill>
                <a:latin typeface="Segoe UI"/>
              </a:rPr>
              <a:t>su</a:t>
            </a:r>
            <a:r>
              <a:rPr sz="11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100" b="0" dirty="0" err="1">
                <a:solidFill>
                  <a:srgbClr val="46565C"/>
                </a:solidFill>
                <a:latin typeface="Segoe UI"/>
              </a:rPr>
              <a:t>check_hint</a:t>
            </a:r>
            <a:r>
              <a:rPr sz="1100" b="0" dirty="0">
                <a:solidFill>
                  <a:srgbClr val="46565C"/>
                </a:solidFill>
                <a:latin typeface="Segoe UI"/>
              </a:rPr>
              <a:t>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26280" y="1691640"/>
            <a:ext cx="3383280" cy="1481328"/>
          </a:xfrm>
          <a:prstGeom prst="rect">
            <a:avLst/>
          </a:prstGeom>
          <a:solidFill>
            <a:srgbClr val="F2F5F6"/>
          </a:solidFill>
          <a:ln w="9525">
            <a:solidFill>
              <a:srgbClr val="D2DB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90872" y="1819656"/>
            <a:ext cx="3054096" cy="12252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1619"/>
                </a:solidFill>
                <a:latin typeface="Segoe UI"/>
              </a:rPr>
              <a:t>2 · Creative Engine genera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6565C"/>
                </a:solidFill>
                <a:latin typeface="Segoe UI"/>
              </a:rPr>
              <a:t>El sistema recupera reglas ANTES de escribir.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6565C"/>
                </a:solidFill>
                <a:latin typeface="Segoe UI"/>
              </a:rPr>
              <a:t>Mirar: los rule_id aplicados, y el bloque de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6565C"/>
                </a:solidFill>
                <a:latin typeface="Segoe UI"/>
              </a:rPr>
              <a:t>violaciones que el guardrail corrigió.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92440" y="1691640"/>
            <a:ext cx="3383280" cy="1481328"/>
          </a:xfrm>
          <a:prstGeom prst="rect">
            <a:avLst/>
          </a:prstGeom>
          <a:solidFill>
            <a:srgbClr val="F2F5F6"/>
          </a:solidFill>
          <a:ln w="9525">
            <a:solidFill>
              <a:srgbClr val="D2DB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57032" y="1819656"/>
            <a:ext cx="3054096" cy="12252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1619"/>
                </a:solidFill>
                <a:latin typeface="Segoe UI"/>
              </a:rPr>
              <a:t>3 · Aprobador A revisa el texto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6565C"/>
                </a:solidFill>
                <a:latin typeface="Segoe UI"/>
              </a:rPr>
              <a:t>Misma app, distinta navegación y permisos.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6565C"/>
                </a:solidFill>
                <a:latin typeface="Segoe UI"/>
              </a:rPr>
              <a:t>Mirar: el badge de rol y que el botón de crear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6565C"/>
                </a:solidFill>
                <a:latin typeface="Segoe UI"/>
              </a:rPr>
              <a:t>marca ya no existe.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" y="3374136"/>
            <a:ext cx="3383280" cy="1481328"/>
          </a:xfrm>
          <a:prstGeom prst="rect">
            <a:avLst/>
          </a:prstGeom>
          <a:solidFill>
            <a:srgbClr val="F2F5F6"/>
          </a:solidFill>
          <a:ln w="15875">
            <a:solidFill>
              <a:srgbClr val="0E6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24712" y="3502152"/>
            <a:ext cx="3054096" cy="12252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1619"/>
                </a:solidFill>
                <a:latin typeface="Segoe UI"/>
              </a:rPr>
              <a:t>4 · Aprobador B audita la imagen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6565C"/>
                </a:solidFill>
                <a:latin typeface="Segoe UI"/>
              </a:rPr>
              <a:t>Sube una pieza con el logo pequeño.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6565C"/>
                </a:solidFill>
                <a:latin typeface="Segoe UI"/>
              </a:rPr>
              <a:t>Mirar: el dictamen mide 4.1 % y cita la regla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6565C"/>
                </a:solidFill>
                <a:latin typeface="Segoe UI"/>
              </a:rPr>
              <a:t>exacta del manual que se incumple.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26280" y="3374136"/>
            <a:ext cx="3383280" cy="1481328"/>
          </a:xfrm>
          <a:prstGeom prst="rect">
            <a:avLst/>
          </a:prstGeom>
          <a:solidFill>
            <a:srgbClr val="F2F5F6"/>
          </a:solidFill>
          <a:ln w="9525">
            <a:solidFill>
              <a:srgbClr val="D2DB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690872" y="3502152"/>
            <a:ext cx="3054096" cy="12252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1619"/>
                </a:solidFill>
                <a:latin typeface="Segoe UI"/>
              </a:rPr>
              <a:t>5 · Langfuse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6565C"/>
                </a:solidFill>
                <a:latin typeface="Segoe UI"/>
              </a:rPr>
              <a:t>La traza de esa misma interacción: contexto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6565C"/>
                </a:solidFill>
                <a:latin typeface="Segoe UI"/>
              </a:rPr>
              <a:t>recuperado, prompt enviado y latencias.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0120" y="5029200"/>
            <a:ext cx="10515600" cy="1051560"/>
          </a:xfrm>
          <a:prstGeom prst="rect">
            <a:avLst/>
          </a:prstGeom>
          <a:solidFill>
            <a:srgbClr val="F2F5F6"/>
          </a:solidFill>
          <a:ln w="15875">
            <a:solidFill>
              <a:srgbClr val="0E6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88720" y="5175504"/>
            <a:ext cx="10058400" cy="582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dirty="0">
                <a:solidFill>
                  <a:srgbClr val="101619"/>
                </a:solidFill>
                <a:latin typeface="Segoe UI"/>
              </a:rPr>
              <a:t>Nota </a:t>
            </a:r>
            <a:r>
              <a:rPr sz="1150" b="1" dirty="0" err="1">
                <a:solidFill>
                  <a:srgbClr val="101619"/>
                </a:solidFill>
                <a:latin typeface="Segoe UI"/>
              </a:rPr>
              <a:t>sobre</a:t>
            </a:r>
            <a:r>
              <a:rPr sz="1150" b="1" dirty="0">
                <a:solidFill>
                  <a:srgbClr val="101619"/>
                </a:solidFill>
                <a:latin typeface="Segoe UI"/>
              </a:rPr>
              <a:t> la demo</a:t>
            </a:r>
          </a:p>
          <a:p>
            <a:pPr>
              <a:spcAft>
                <a:spcPts val="600"/>
              </a:spcAft>
            </a:pPr>
            <a:r>
              <a:rPr sz="1150" b="0" dirty="0">
                <a:solidFill>
                  <a:srgbClr val="46565C"/>
                </a:solidFill>
                <a:latin typeface="Segoe UI"/>
              </a:rPr>
              <a:t>El backend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corre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en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 el free tier de Render y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duerme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tras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 15 min: la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primera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petición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puede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tardar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 ~60 s. Por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eso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 hay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marcas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ya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sembradas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 — la demo del visor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nunca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depende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 de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una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llamada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en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 vivo</a:t>
            </a:r>
            <a:r>
              <a:rPr lang="es-PE" sz="1150" b="0" dirty="0">
                <a:solidFill>
                  <a:srgbClr val="46565C"/>
                </a:solidFill>
                <a:latin typeface="Segoe UI"/>
              </a:rPr>
              <a:t>.</a:t>
            </a:r>
            <a:endParaRPr sz="1150" b="0" dirty="0">
              <a:solidFill>
                <a:srgbClr val="46565C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66928" cy="6858000"/>
          </a:xfrm>
          <a:prstGeom prst="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8016" y="3840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E6C74"/>
                </a:solidFill>
                <a:latin typeface="Consolas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" y="914400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8016" y="1133856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8016" y="1353312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8016" y="1572768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8016" y="1792224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28016" y="2011680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8016" y="2231136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8016" y="2450592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8016" y="2670048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8016" y="2889504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28016" y="3108960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28016" y="3328416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28016" y="3547872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28016" y="3767328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28016" y="3986784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28016" y="4206240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28016" y="4425696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8016" y="4645152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8016" y="4864608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28016" y="5084064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28016" y="5303520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28016" y="5522976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28016" y="5742432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28016" y="5961888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28016" y="6181344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28016" y="6400800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45720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E6C74"/>
                </a:solidFill>
                <a:latin typeface="Consolas"/>
              </a:rPr>
              <a:t>PRINCIPALES DECISIONES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77724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01619"/>
                </a:solidFill>
                <a:latin typeface="Segoe UI"/>
              </a:rPr>
              <a:t>Qué se decidió y por qué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" y="1691640"/>
            <a:ext cx="5120640" cy="1234440"/>
          </a:xfrm>
          <a:prstGeom prst="rect">
            <a:avLst/>
          </a:prstGeom>
          <a:solidFill>
            <a:srgbClr val="F2F5F6"/>
          </a:solidFill>
          <a:ln w="9525">
            <a:solidFill>
              <a:srgbClr val="D2DB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24712" y="1819656"/>
            <a:ext cx="4791456" cy="978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1619"/>
                </a:solidFill>
                <a:latin typeface="Segoe UI"/>
              </a:rPr>
              <a:t>Reglas como objetos con check_hint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6565C"/>
                </a:solidFill>
                <a:latin typeface="Segoe UI"/>
              </a:rPr>
              <a:t>Sin una instrucción de verificación medible, el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6565C"/>
                </a:solidFill>
                <a:latin typeface="Segoe UI"/>
              </a:rPr>
              <a:t>Módulo III solo podría opinar sobre estética.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36792" y="1691640"/>
            <a:ext cx="5120640" cy="1234440"/>
          </a:xfrm>
          <a:prstGeom prst="rect">
            <a:avLst/>
          </a:prstGeom>
          <a:solidFill>
            <a:srgbClr val="F2F5F6"/>
          </a:solidFill>
          <a:ln w="9525">
            <a:solidFill>
              <a:srgbClr val="D2DB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01384" y="1819656"/>
            <a:ext cx="4791456" cy="978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101619"/>
                </a:solidFill>
                <a:latin typeface="Segoe UI"/>
              </a:rPr>
              <a:t>Chunking </a:t>
            </a:r>
            <a:r>
              <a:rPr sz="1300" b="1" dirty="0" err="1">
                <a:solidFill>
                  <a:srgbClr val="101619"/>
                </a:solidFill>
                <a:latin typeface="Segoe UI"/>
              </a:rPr>
              <a:t>por</a:t>
            </a:r>
            <a:r>
              <a:rPr sz="1300" b="1" dirty="0">
                <a:solidFill>
                  <a:srgbClr val="101619"/>
                </a:solidFill>
                <a:latin typeface="Segoe UI"/>
              </a:rPr>
              <a:t> </a:t>
            </a:r>
            <a:r>
              <a:rPr sz="1300" b="1" dirty="0" err="1">
                <a:solidFill>
                  <a:srgbClr val="101619"/>
                </a:solidFill>
                <a:latin typeface="Segoe UI"/>
              </a:rPr>
              <a:t>dominio</a:t>
            </a:r>
            <a:r>
              <a:rPr sz="1300" b="1" dirty="0">
                <a:solidFill>
                  <a:srgbClr val="101619"/>
                </a:solidFill>
                <a:latin typeface="Segoe UI"/>
              </a:rPr>
              <a:t>, no </a:t>
            </a:r>
            <a:r>
              <a:rPr sz="1300" b="1" dirty="0" err="1">
                <a:solidFill>
                  <a:srgbClr val="101619"/>
                </a:solidFill>
                <a:latin typeface="Segoe UI"/>
              </a:rPr>
              <a:t>por</a:t>
            </a:r>
            <a:r>
              <a:rPr sz="1300" b="1" dirty="0">
                <a:solidFill>
                  <a:srgbClr val="101619"/>
                </a:solidFill>
                <a:latin typeface="Segoe UI"/>
              </a:rPr>
              <a:t> </a:t>
            </a:r>
            <a:r>
              <a:rPr sz="1300" b="1" dirty="0" err="1">
                <a:solidFill>
                  <a:srgbClr val="101619"/>
                </a:solidFill>
                <a:latin typeface="Segoe UI"/>
              </a:rPr>
              <a:t>tamaño</a:t>
            </a:r>
            <a:endParaRPr sz="1300" b="1" dirty="0">
              <a:solidFill>
                <a:srgbClr val="101619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1100" b="0" dirty="0">
                <a:solidFill>
                  <a:srgbClr val="46565C"/>
                </a:solidFill>
                <a:latin typeface="Segoe UI"/>
              </a:rPr>
              <a:t>Sin metadata </a:t>
            </a:r>
            <a:r>
              <a:rPr sz="1100" b="0" dirty="0" err="1">
                <a:solidFill>
                  <a:srgbClr val="46565C"/>
                </a:solidFill>
                <a:latin typeface="Segoe UI"/>
              </a:rPr>
              <a:t>limpia</a:t>
            </a:r>
            <a:r>
              <a:rPr sz="1100" b="0" dirty="0">
                <a:solidFill>
                  <a:srgbClr val="46565C"/>
                </a:solidFill>
                <a:latin typeface="Segoe UI"/>
              </a:rPr>
              <a:t> no hay pre-</a:t>
            </a:r>
            <a:r>
              <a:rPr sz="1100" b="0" dirty="0" err="1">
                <a:solidFill>
                  <a:srgbClr val="46565C"/>
                </a:solidFill>
                <a:latin typeface="Segoe UI"/>
              </a:rPr>
              <a:t>filtrado</a:t>
            </a:r>
            <a:r>
              <a:rPr sz="1100" b="0" dirty="0">
                <a:solidFill>
                  <a:srgbClr val="46565C"/>
                </a:solidFill>
                <a:latin typeface="Segoe UI"/>
              </a:rPr>
              <a:t>, y </a:t>
            </a:r>
            <a:r>
              <a:rPr sz="1100" b="0" dirty="0" err="1">
                <a:solidFill>
                  <a:srgbClr val="46565C"/>
                </a:solidFill>
                <a:latin typeface="Segoe UI"/>
              </a:rPr>
              <a:t>una</a:t>
            </a:r>
            <a:endParaRPr sz="1100" b="0" dirty="0">
              <a:solidFill>
                <a:srgbClr val="46565C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1100" b="0" dirty="0">
                <a:solidFill>
                  <a:srgbClr val="46565C"/>
                </a:solidFill>
                <a:latin typeface="Segoe UI"/>
              </a:rPr>
              <a:t>consulta </a:t>
            </a:r>
            <a:r>
              <a:rPr sz="1100" b="0" dirty="0" err="1">
                <a:solidFill>
                  <a:srgbClr val="46565C"/>
                </a:solidFill>
                <a:latin typeface="Segoe UI"/>
              </a:rPr>
              <a:t>sobre</a:t>
            </a:r>
            <a:r>
              <a:rPr sz="1100" b="0" dirty="0">
                <a:solidFill>
                  <a:srgbClr val="46565C"/>
                </a:solidFill>
                <a:latin typeface="Segoe UI"/>
              </a:rPr>
              <a:t> el logo </a:t>
            </a:r>
            <a:r>
              <a:rPr sz="1100" b="0" dirty="0" err="1">
                <a:solidFill>
                  <a:srgbClr val="46565C"/>
                </a:solidFill>
                <a:latin typeface="Segoe UI"/>
              </a:rPr>
              <a:t>devolvería</a:t>
            </a:r>
            <a:r>
              <a:rPr sz="11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100" b="0" dirty="0" err="1">
                <a:solidFill>
                  <a:srgbClr val="46565C"/>
                </a:solidFill>
                <a:latin typeface="Segoe UI"/>
              </a:rPr>
              <a:t>léxico</a:t>
            </a:r>
            <a:r>
              <a:rPr sz="1100" b="0" dirty="0">
                <a:solidFill>
                  <a:srgbClr val="46565C"/>
                </a:solidFill>
                <a:latin typeface="Segoe UI"/>
              </a:rPr>
              <a:t>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" y="3108960"/>
            <a:ext cx="5120640" cy="1234440"/>
          </a:xfrm>
          <a:prstGeom prst="rect">
            <a:avLst/>
          </a:prstGeom>
          <a:solidFill>
            <a:srgbClr val="F2F5F6"/>
          </a:solidFill>
          <a:ln w="9525">
            <a:solidFill>
              <a:srgbClr val="D2DB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24712" y="3236976"/>
            <a:ext cx="4791456" cy="978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101619"/>
                </a:solidFill>
                <a:latin typeface="Segoe UI"/>
              </a:rPr>
              <a:t>RAG para </a:t>
            </a:r>
            <a:r>
              <a:rPr sz="1300" b="1" dirty="0" err="1">
                <a:solidFill>
                  <a:srgbClr val="101619"/>
                </a:solidFill>
                <a:latin typeface="Segoe UI"/>
              </a:rPr>
              <a:t>guía</a:t>
            </a:r>
            <a:r>
              <a:rPr sz="1300" b="1" dirty="0">
                <a:solidFill>
                  <a:srgbClr val="101619"/>
                </a:solidFill>
                <a:latin typeface="Segoe UI"/>
              </a:rPr>
              <a:t>, </a:t>
            </a:r>
            <a:r>
              <a:rPr sz="1300" b="1" dirty="0" err="1">
                <a:solidFill>
                  <a:srgbClr val="101619"/>
                </a:solidFill>
                <a:latin typeface="Segoe UI"/>
              </a:rPr>
              <a:t>código</a:t>
            </a:r>
            <a:r>
              <a:rPr sz="1300" b="1" dirty="0">
                <a:solidFill>
                  <a:srgbClr val="101619"/>
                </a:solidFill>
                <a:latin typeface="Segoe UI"/>
              </a:rPr>
              <a:t> para lo </a:t>
            </a:r>
            <a:r>
              <a:rPr sz="1300" b="1" dirty="0" err="1">
                <a:solidFill>
                  <a:srgbClr val="101619"/>
                </a:solidFill>
                <a:latin typeface="Segoe UI"/>
              </a:rPr>
              <a:t>duro</a:t>
            </a:r>
            <a:endParaRPr sz="1300" b="1" dirty="0">
              <a:solidFill>
                <a:srgbClr val="101619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1100" b="0" dirty="0">
                <a:solidFill>
                  <a:srgbClr val="46565C"/>
                </a:solidFill>
                <a:latin typeface="Segoe UI"/>
              </a:rPr>
              <a:t>Un check de palabra </a:t>
            </a:r>
            <a:r>
              <a:rPr sz="1100" b="0" dirty="0" err="1">
                <a:solidFill>
                  <a:srgbClr val="46565C"/>
                </a:solidFill>
                <a:latin typeface="Segoe UI"/>
              </a:rPr>
              <a:t>prohibida</a:t>
            </a:r>
            <a:r>
              <a:rPr sz="11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100" b="0" dirty="0" err="1">
                <a:solidFill>
                  <a:srgbClr val="46565C"/>
                </a:solidFill>
                <a:latin typeface="Segoe UI"/>
              </a:rPr>
              <a:t>necesita</a:t>
            </a:r>
            <a:r>
              <a:rPr sz="1100" b="0" dirty="0">
                <a:solidFill>
                  <a:srgbClr val="46565C"/>
                </a:solidFill>
                <a:latin typeface="Segoe UI"/>
              </a:rPr>
              <a:t> 100 % de</a:t>
            </a:r>
          </a:p>
          <a:p>
            <a:pPr>
              <a:spcAft>
                <a:spcPts val="400"/>
              </a:spcAft>
            </a:pPr>
            <a:r>
              <a:rPr sz="1100" b="0" dirty="0">
                <a:solidFill>
                  <a:srgbClr val="46565C"/>
                </a:solidFill>
                <a:latin typeface="Segoe UI"/>
              </a:rPr>
              <a:t>recall. La </a:t>
            </a:r>
            <a:r>
              <a:rPr sz="1100" b="0" dirty="0" err="1">
                <a:solidFill>
                  <a:srgbClr val="46565C"/>
                </a:solidFill>
                <a:latin typeface="Segoe UI"/>
              </a:rPr>
              <a:t>búsqueda</a:t>
            </a:r>
            <a:r>
              <a:rPr sz="11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100" b="0" dirty="0" err="1">
                <a:solidFill>
                  <a:srgbClr val="46565C"/>
                </a:solidFill>
                <a:latin typeface="Segoe UI"/>
              </a:rPr>
              <a:t>semántica</a:t>
            </a:r>
            <a:r>
              <a:rPr sz="1100" b="0" dirty="0">
                <a:solidFill>
                  <a:srgbClr val="46565C"/>
                </a:solidFill>
                <a:latin typeface="Segoe UI"/>
              </a:rPr>
              <a:t> no lo </a:t>
            </a:r>
            <a:r>
              <a:rPr sz="1100" b="0" dirty="0" err="1">
                <a:solidFill>
                  <a:srgbClr val="46565C"/>
                </a:solidFill>
                <a:latin typeface="Segoe UI"/>
              </a:rPr>
              <a:t>garantiza</a:t>
            </a:r>
            <a:r>
              <a:rPr sz="1100" b="0" dirty="0">
                <a:solidFill>
                  <a:srgbClr val="46565C"/>
                </a:solidFill>
                <a:latin typeface="Segoe UI"/>
              </a:rPr>
              <a:t>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36792" y="3108960"/>
            <a:ext cx="5120640" cy="1234440"/>
          </a:xfrm>
          <a:prstGeom prst="rect">
            <a:avLst/>
          </a:prstGeom>
          <a:solidFill>
            <a:srgbClr val="F2F5F6"/>
          </a:solidFill>
          <a:ln w="9525">
            <a:solidFill>
              <a:srgbClr val="D2DB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01384" y="3236976"/>
            <a:ext cx="4791456" cy="978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1619"/>
                </a:solidFill>
                <a:latin typeface="Segoe UI"/>
              </a:rPr>
              <a:t>LangGraph solo en el Módulo II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6565C"/>
                </a:solidFill>
                <a:latin typeface="Segoe UI"/>
              </a:rPr>
              <a:t>Ahí hay un ciclo con decisión. El fan-out del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6565C"/>
                </a:solidFill>
                <a:latin typeface="Segoe UI"/>
              </a:rPr>
              <a:t>Módulo I lo expresa mejor asyncio.gather.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0120" y="4526280"/>
            <a:ext cx="5120640" cy="1234440"/>
          </a:xfrm>
          <a:prstGeom prst="rect">
            <a:avLst/>
          </a:prstGeom>
          <a:solidFill>
            <a:srgbClr val="F2F5F6"/>
          </a:solidFill>
          <a:ln w="15875">
            <a:solidFill>
              <a:srgbClr val="0E6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124712" y="4654296"/>
            <a:ext cx="4791456" cy="6412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s-PE" sz="1300" b="1" dirty="0">
                <a:solidFill>
                  <a:srgbClr val="101619"/>
                </a:solidFill>
                <a:latin typeface="Segoe UI"/>
              </a:rPr>
              <a:t>Cambio de proveedor</a:t>
            </a:r>
            <a:endParaRPr sz="1300" b="1" dirty="0">
              <a:solidFill>
                <a:srgbClr val="101619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1100" b="0" dirty="0">
                <a:solidFill>
                  <a:srgbClr val="46565C"/>
                </a:solidFill>
                <a:latin typeface="Segoe UI"/>
              </a:rPr>
              <a:t>Gemini </a:t>
            </a:r>
            <a:r>
              <a:rPr sz="1100" b="0" dirty="0" err="1">
                <a:solidFill>
                  <a:srgbClr val="46565C"/>
                </a:solidFill>
                <a:latin typeface="Segoe UI"/>
              </a:rPr>
              <a:t>limita</a:t>
            </a:r>
            <a:r>
              <a:rPr sz="1100" b="0" dirty="0">
                <a:solidFill>
                  <a:srgbClr val="46565C"/>
                </a:solidFill>
                <a:latin typeface="Segoe UI"/>
              </a:rPr>
              <a:t> a 20 </a:t>
            </a:r>
            <a:r>
              <a:rPr sz="1100" b="0" dirty="0" err="1">
                <a:solidFill>
                  <a:srgbClr val="46565C"/>
                </a:solidFill>
                <a:latin typeface="Segoe UI"/>
              </a:rPr>
              <a:t>peticiones</a:t>
            </a:r>
            <a:r>
              <a:rPr sz="1100" b="0" dirty="0">
                <a:solidFill>
                  <a:srgbClr val="46565C"/>
                </a:solidFill>
                <a:latin typeface="Segoe UI"/>
              </a:rPr>
              <a:t> AL DÍA </a:t>
            </a:r>
            <a:r>
              <a:rPr sz="1100" b="0" dirty="0" err="1">
                <a:solidFill>
                  <a:srgbClr val="46565C"/>
                </a:solidFill>
                <a:latin typeface="Segoe UI"/>
              </a:rPr>
              <a:t>por</a:t>
            </a:r>
            <a:r>
              <a:rPr sz="11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100" b="0" dirty="0" err="1">
                <a:solidFill>
                  <a:srgbClr val="46565C"/>
                </a:solidFill>
                <a:latin typeface="Segoe UI"/>
              </a:rPr>
              <a:t>modelo</a:t>
            </a:r>
            <a:r>
              <a:rPr sz="1100" b="0" dirty="0">
                <a:solidFill>
                  <a:srgbClr val="46565C"/>
                </a:solidFill>
                <a:latin typeface="Segoe UI"/>
              </a:rPr>
              <a:t>.</a:t>
            </a:r>
          </a:p>
          <a:p>
            <a:pPr>
              <a:spcAft>
                <a:spcPts val="400"/>
              </a:spcAft>
            </a:pPr>
            <a:r>
              <a:rPr lang="es-PE" sz="1100" b="0" dirty="0">
                <a:solidFill>
                  <a:srgbClr val="46565C"/>
                </a:solidFill>
                <a:latin typeface="Segoe UI"/>
              </a:rPr>
              <a:t>Se mi</a:t>
            </a:r>
            <a:r>
              <a:rPr sz="1100" b="0" dirty="0">
                <a:solidFill>
                  <a:srgbClr val="46565C"/>
                </a:solidFill>
                <a:latin typeface="Segoe UI"/>
              </a:rPr>
              <a:t>gr</a:t>
            </a:r>
            <a:r>
              <a:rPr lang="es-PE" sz="1100" b="0" dirty="0" err="1">
                <a:solidFill>
                  <a:srgbClr val="46565C"/>
                </a:solidFill>
                <a:latin typeface="Segoe UI"/>
              </a:rPr>
              <a:t>ó</a:t>
            </a:r>
            <a:r>
              <a:rPr sz="1100" b="0" dirty="0">
                <a:solidFill>
                  <a:srgbClr val="46565C"/>
                </a:solidFill>
                <a:latin typeface="Segoe UI"/>
              </a:rPr>
              <a:t> a OpenAI</a:t>
            </a:r>
            <a:r>
              <a:rPr lang="es-PE" sz="1100" b="0" dirty="0">
                <a:solidFill>
                  <a:srgbClr val="46565C"/>
                </a:solidFill>
                <a:latin typeface="Segoe UI"/>
              </a:rPr>
              <a:t>.</a:t>
            </a:r>
            <a:endParaRPr sz="1100" b="0" dirty="0">
              <a:solidFill>
                <a:srgbClr val="46565C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66928" cy="6858000"/>
          </a:xfrm>
          <a:prstGeom prst="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8016" y="3840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E6C74"/>
                </a:solidFill>
                <a:latin typeface="Consolas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" y="914400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8016" y="1133856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8016" y="1353312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8016" y="1572768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8016" y="1792224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28016" y="2011680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8016" y="2231136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8016" y="2450592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8016" y="2670048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8016" y="2889504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28016" y="3108960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28016" y="3328416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28016" y="3547872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28016" y="3767328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28016" y="3986784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28016" y="4206240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28016" y="4425696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8016" y="4645152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8016" y="4864608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28016" y="5084064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28016" y="5303520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28016" y="5522976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28016" y="5742432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28016" y="5961888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28016" y="6181344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28016" y="6400800"/>
            <a:ext cx="310896" cy="9525"/>
          </a:xfrm>
          <a:prstGeom prst="rect">
            <a:avLst/>
          </a:prstGeom>
          <a:solidFill>
            <a:srgbClr val="D2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45720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E6C74"/>
                </a:solidFill>
                <a:latin typeface="Consolas"/>
              </a:rPr>
              <a:t>VALOR Y LIMITACIONES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77724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01619"/>
                </a:solidFill>
                <a:latin typeface="Segoe UI"/>
              </a:rPr>
              <a:t>Qué resuelve hoy y qué falta para producción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1691640"/>
            <a:ext cx="502920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dirty="0">
                <a:solidFill>
                  <a:srgbClr val="0E6C74"/>
                </a:solidFill>
                <a:latin typeface="Segoe UI"/>
              </a:rPr>
              <a:t>Valor al </a:t>
            </a:r>
            <a:r>
              <a:rPr sz="1400" b="1" dirty="0" err="1">
                <a:solidFill>
                  <a:srgbClr val="0E6C74"/>
                </a:solidFill>
                <a:latin typeface="Segoe UI"/>
              </a:rPr>
              <a:t>negocio</a:t>
            </a:r>
            <a:endParaRPr sz="1400" b="1" dirty="0">
              <a:solidFill>
                <a:srgbClr val="0E6C74"/>
              </a:solidFill>
              <a:latin typeface="Segoe UI"/>
            </a:endParaRPr>
          </a:p>
          <a:p>
            <a:pPr>
              <a:spcAft>
                <a:spcPts val="1000"/>
              </a:spcAft>
            </a:pPr>
            <a:r>
              <a:rPr sz="1200" b="0" dirty="0">
                <a:solidFill>
                  <a:srgbClr val="46565C"/>
                </a:solidFill>
                <a:latin typeface="Segoe UI"/>
              </a:rPr>
              <a:t>·  El manual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deja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de ser un PDF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que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nadie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abre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: se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vuelve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reglas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que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el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sistema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aplica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solo.</a:t>
            </a:r>
          </a:p>
          <a:p>
            <a:pPr>
              <a:spcAft>
                <a:spcPts val="1000"/>
              </a:spcAft>
            </a:pPr>
            <a:r>
              <a:rPr sz="1200" b="0" dirty="0">
                <a:solidFill>
                  <a:srgbClr val="46565C"/>
                </a:solidFill>
                <a:latin typeface="Segoe UI"/>
              </a:rPr>
              <a:t>·  La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revisión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de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marca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deja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de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depender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de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quién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esté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disponible.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Mismo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criterio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en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la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pieza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1 y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en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la 200.</a:t>
            </a:r>
          </a:p>
          <a:p>
            <a:pPr>
              <a:spcAft>
                <a:spcPts val="1000"/>
              </a:spcAft>
            </a:pPr>
            <a:r>
              <a:rPr sz="1200" b="0" dirty="0">
                <a:solidFill>
                  <a:srgbClr val="46565C"/>
                </a:solidFill>
                <a:latin typeface="Segoe UI"/>
              </a:rPr>
              <a:t>·  Cada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decisión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es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rastreable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: un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hallazgo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cita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su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regla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;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una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pieza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cita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las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reglas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que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la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guiaron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200" b="0" dirty="0">
                <a:solidFill>
                  <a:srgbClr val="46565C"/>
                </a:solidFill>
                <a:latin typeface="Segoe UI"/>
              </a:rPr>
              <a:t>·  Riesgo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regulatorio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acotado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: claims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prohibidos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y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octógonos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de la Ley 30021 son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reglas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del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sistema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691640"/>
            <a:ext cx="507492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dirty="0" err="1">
                <a:solidFill>
                  <a:srgbClr val="A8271F"/>
                </a:solidFill>
                <a:latin typeface="Segoe UI"/>
              </a:rPr>
              <a:t>Limitaciones</a:t>
            </a:r>
            <a:r>
              <a:rPr sz="1400" b="1" dirty="0">
                <a:solidFill>
                  <a:srgbClr val="A8271F"/>
                </a:solidFill>
                <a:latin typeface="Segoe UI"/>
              </a:rPr>
              <a:t>, sin </a:t>
            </a:r>
            <a:r>
              <a:rPr sz="1400" b="1" dirty="0" err="1">
                <a:solidFill>
                  <a:srgbClr val="A8271F"/>
                </a:solidFill>
                <a:latin typeface="Segoe UI"/>
              </a:rPr>
              <a:t>maquillar</a:t>
            </a:r>
            <a:endParaRPr sz="1400" b="1" dirty="0">
              <a:solidFill>
                <a:srgbClr val="A8271F"/>
              </a:solidFill>
              <a:latin typeface="Segoe UI"/>
            </a:endParaRPr>
          </a:p>
          <a:p>
            <a:pPr>
              <a:spcAft>
                <a:spcPts val="1000"/>
              </a:spcAft>
            </a:pPr>
            <a:r>
              <a:rPr sz="1200" b="0" dirty="0">
                <a:solidFill>
                  <a:srgbClr val="46565C"/>
                </a:solidFill>
                <a:latin typeface="Segoe UI"/>
              </a:rPr>
              <a:t>·  La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auditoría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visual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estima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proporciones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, no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mide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píxeles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.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Acertó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(44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px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sobre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43 reales),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pero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cada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hallazgo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lleva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confidence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por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eso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200" b="0" dirty="0">
                <a:solidFill>
                  <a:srgbClr val="46565C"/>
                </a:solidFill>
                <a:latin typeface="Segoe UI"/>
              </a:rPr>
              <a:t>·  Cold start de ~60 s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en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el free tier.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Mitigado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con keep-alive y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datos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sembrados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; no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resuelto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200" b="0" dirty="0">
                <a:solidFill>
                  <a:srgbClr val="46565C"/>
                </a:solidFill>
                <a:latin typeface="Segoe UI"/>
              </a:rPr>
              <a:t>·  Sin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evaluación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sistemática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de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calidad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todavía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: no hay golden set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ni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evals de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regresión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200" b="0" dirty="0">
                <a:solidFill>
                  <a:srgbClr val="46565C"/>
                </a:solidFill>
                <a:latin typeface="Segoe UI"/>
              </a:rPr>
              <a:t>·  El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contenido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generado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requiere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validación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legal y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nutricional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. El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sistema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 reduce el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riesgo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; no lo </a:t>
            </a:r>
            <a:r>
              <a:rPr sz="1200" b="0" dirty="0" err="1">
                <a:solidFill>
                  <a:srgbClr val="46565C"/>
                </a:solidFill>
                <a:latin typeface="Segoe UI"/>
              </a:rPr>
              <a:t>elimina</a:t>
            </a:r>
            <a:r>
              <a:rPr sz="1200" b="0" dirty="0">
                <a:solidFill>
                  <a:srgbClr val="46565C"/>
                </a:solidFill>
                <a:latin typeface="Segoe UI"/>
              </a:rPr>
              <a:t>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120" y="5029200"/>
            <a:ext cx="10515600" cy="1234440"/>
          </a:xfrm>
          <a:prstGeom prst="rect">
            <a:avLst/>
          </a:prstGeom>
          <a:solidFill>
            <a:srgbClr val="F2F5F6"/>
          </a:solidFill>
          <a:ln w="15875">
            <a:solidFill>
              <a:srgbClr val="0E6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88720" y="5175504"/>
            <a:ext cx="10058400" cy="8053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101619"/>
                </a:solidFill>
                <a:latin typeface="Segoe UI"/>
              </a:rPr>
              <a:t>Lo </a:t>
            </a:r>
            <a:r>
              <a:rPr sz="1200" b="1" dirty="0" err="1">
                <a:solidFill>
                  <a:srgbClr val="101619"/>
                </a:solidFill>
                <a:latin typeface="Segoe UI"/>
              </a:rPr>
              <a:t>que</a:t>
            </a:r>
            <a:r>
              <a:rPr sz="1200" b="1" dirty="0">
                <a:solidFill>
                  <a:srgbClr val="101619"/>
                </a:solidFill>
                <a:latin typeface="Segoe UI"/>
              </a:rPr>
              <a:t> </a:t>
            </a:r>
            <a:r>
              <a:rPr sz="1200" b="1" dirty="0" err="1">
                <a:solidFill>
                  <a:srgbClr val="101619"/>
                </a:solidFill>
                <a:latin typeface="Segoe UI"/>
              </a:rPr>
              <a:t>haría</a:t>
            </a:r>
            <a:r>
              <a:rPr sz="1200" b="1" dirty="0">
                <a:solidFill>
                  <a:srgbClr val="101619"/>
                </a:solidFill>
                <a:latin typeface="Segoe UI"/>
              </a:rPr>
              <a:t> a </a:t>
            </a:r>
            <a:r>
              <a:rPr sz="1200" b="1" dirty="0" err="1">
                <a:solidFill>
                  <a:srgbClr val="101619"/>
                </a:solidFill>
                <a:latin typeface="Segoe UI"/>
              </a:rPr>
              <a:t>continuación</a:t>
            </a:r>
            <a:r>
              <a:rPr sz="1200" b="1" dirty="0">
                <a:solidFill>
                  <a:srgbClr val="101619"/>
                </a:solidFill>
                <a:latin typeface="Segoe UI"/>
              </a:rPr>
              <a:t>, </a:t>
            </a:r>
            <a:r>
              <a:rPr sz="1200" b="1" dirty="0" err="1">
                <a:solidFill>
                  <a:srgbClr val="101619"/>
                </a:solidFill>
                <a:latin typeface="Segoe UI"/>
              </a:rPr>
              <a:t>en</a:t>
            </a:r>
            <a:r>
              <a:rPr sz="1200" b="1" dirty="0">
                <a:solidFill>
                  <a:srgbClr val="101619"/>
                </a:solidFill>
                <a:latin typeface="Segoe UI"/>
              </a:rPr>
              <a:t> </a:t>
            </a:r>
            <a:r>
              <a:rPr sz="1200" b="1" dirty="0" err="1">
                <a:solidFill>
                  <a:srgbClr val="101619"/>
                </a:solidFill>
                <a:latin typeface="Segoe UI"/>
              </a:rPr>
              <a:t>orden</a:t>
            </a:r>
            <a:endParaRPr sz="1200" b="1" dirty="0">
              <a:solidFill>
                <a:srgbClr val="101619"/>
              </a:solidFill>
              <a:latin typeface="Segoe UI"/>
            </a:endParaRPr>
          </a:p>
          <a:p>
            <a:pPr>
              <a:spcAft>
                <a:spcPts val="300"/>
              </a:spcAft>
            </a:pPr>
            <a:r>
              <a:rPr sz="1150" b="0" dirty="0">
                <a:solidFill>
                  <a:srgbClr val="46565C"/>
                </a:solidFill>
                <a:latin typeface="Segoe UI"/>
              </a:rPr>
              <a:t>1 · Evals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en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Langfuse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 con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manuales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 de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referencia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, para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detectar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regresión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 al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tocar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 prompts.    2 ·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Medición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geométrica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 real (OpenCV) para las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reglas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 de logo y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área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,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dejando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 al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modelo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 de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visión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 lo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que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sí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 es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juicio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150" b="0" dirty="0">
                <a:solidFill>
                  <a:srgbClr val="46565C"/>
                </a:solidFill>
                <a:latin typeface="Segoe UI"/>
              </a:rPr>
              <a:t>3 ·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Versionado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 de prompts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en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Langfuse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 para </a:t>
            </a:r>
            <a:r>
              <a:rPr sz="1150" b="0" dirty="0" err="1">
                <a:solidFill>
                  <a:srgbClr val="46565C"/>
                </a:solidFill>
                <a:latin typeface="Segoe UI"/>
              </a:rPr>
              <a:t>iterar</a:t>
            </a:r>
            <a:r>
              <a:rPr sz="1150" b="0" dirty="0">
                <a:solidFill>
                  <a:srgbClr val="46565C"/>
                </a:solidFill>
                <a:latin typeface="Segoe UI"/>
              </a:rPr>
              <a:t> sin redeploy.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1071</Words>
  <Application>Microsoft Office PowerPoint</Application>
  <PresentationFormat>Panorámica</PresentationFormat>
  <Paragraphs>122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Calibri</vt:lpstr>
      <vt:lpstr>Consolas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Juan Pierre Castillo Nostades</cp:lastModifiedBy>
  <cp:revision>3</cp:revision>
  <dcterms:created xsi:type="dcterms:W3CDTF">2013-01-27T09:14:16Z</dcterms:created>
  <dcterms:modified xsi:type="dcterms:W3CDTF">2026-08-20T16:52:54Z</dcterms:modified>
  <cp:category/>
</cp:coreProperties>
</file>